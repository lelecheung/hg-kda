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58" r:id="rId5"/>
    <p:sldId id="259" r:id="rId6"/>
    <p:sldId id="260" r:id="rId7"/>
    <p:sldId id="265" r:id="rId8"/>
    <p:sldId id="266" r:id="rId9"/>
    <p:sldId id="261" r:id="rId10"/>
    <p:sldId id="26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780" autoAdjust="0"/>
  </p:normalViewPr>
  <p:slideViewPr>
    <p:cSldViewPr snapToGrid="0">
      <p:cViewPr>
        <p:scale>
          <a:sx n="50" d="100"/>
          <a:sy n="50" d="100"/>
        </p:scale>
        <p:origin x="1133" y="144"/>
      </p:cViewPr>
      <p:guideLst/>
    </p:cSldViewPr>
  </p:slideViewPr>
  <p:notesTextViewPr>
    <p:cViewPr>
      <p:scale>
        <a:sx n="1" d="1"/>
        <a:sy n="1" d="1"/>
      </p:scale>
      <p:origin x="0" y="-1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9F60A-0783-482F-958C-553011456E33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3C3D5-34BC-4C44-8899-411B442B0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086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3C3D5-34BC-4C44-8899-411B442B07B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9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在哪测？      XSAI-emu，DefaultMatrixConfig 单核</a:t>
            </a:r>
          </a:p>
          <a:p>
            <a:pPr rtl="0"/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测哪个程序？  GEMM-jki，M=N=K=16，int32</a:t>
            </a:r>
          </a:p>
          <a:p>
            <a:pPr rtl="0"/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用什么测？    RTL counter</a:t>
            </a:r>
          </a:p>
          <a:p>
            <a:pPr rtl="0"/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测到什么？    load_replay = 78,708 次</a:t>
            </a:r>
          </a:p>
          <a:p>
            <a:pPr rtl="0"/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测量范围？    只统计 GEMM Kernel 指令窗口</a:t>
            </a:r>
          </a:p>
          <a:p>
            <a:pPr rtl="0"/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如何聚合？    窗口内事件求和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3C3D5-34BC-4C44-8899-411B442B07B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977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标准化证据层告诉我们，Vector单元在Kernel总周期中只有20%的时间处于活动状态。但仅凭这个数值，无法判断应该执行什么优化。如果DRAM带宽已经达到95%，同时内存依赖等待达到63%，Vector活动率低更可能是因为数据供给不足。如果带宽利用率只有30%，但Occupancy只有18%、可执行Workgroup很少，那么原因更可能是并行度不足。细粒度瓶颈诊断的作用，就是结合多项证据，把相同的性能现象区分成不同的受限原因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3C3D5-34BC-4C44-8899-411B442B07B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461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cuda-optimized-skill已经实现了Profiling、预算分配、方法组合、多变体生成和自动验证闭环。HG-KDA可以复用这套执行框架。我们的研究增量集中在前面的决策过程：如何将不同芯片的Profiling信息转为标准化证据，如何诊断细粒度瓶颈，以及如何生成带条件和验证方法的动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3C3D5-34BC-4C44-8899-411B442B07B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525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厂商原始</a:t>
            </a:r>
            <a:r>
              <a:rPr lang="en-US" altLang="zh-CN" dirty="0"/>
              <a:t>profiling</a:t>
            </a:r>
            <a:r>
              <a:rPr lang="zh-CN" altLang="en-US" dirty="0"/>
              <a:t>信息</a:t>
            </a:r>
            <a:r>
              <a:rPr lang="en-US" altLang="zh-CN" dirty="0"/>
              <a:t>+</a:t>
            </a:r>
            <a:r>
              <a:rPr lang="zh-CN" altLang="en-US" dirty="0"/>
              <a:t>跨平台标准化证据：各个国产卡的</a:t>
            </a:r>
            <a:r>
              <a:rPr lang="en-US" altLang="zh-CN" dirty="0"/>
              <a:t>profiler</a:t>
            </a:r>
            <a:r>
              <a:rPr lang="zh-CN" altLang="en-US" dirty="0"/>
              <a:t>调研</a:t>
            </a:r>
            <a:r>
              <a:rPr lang="en-US" altLang="zh-CN" dirty="0"/>
              <a:t>+</a:t>
            </a:r>
            <a:r>
              <a:rPr lang="zh-CN" altLang="en-US" dirty="0"/>
              <a:t>与全集</a:t>
            </a:r>
            <a:r>
              <a:rPr lang="en-US" altLang="zh-CN" dirty="0"/>
              <a:t>XSAI/</a:t>
            </a:r>
            <a:r>
              <a:rPr lang="zh-CN" altLang="en-US" dirty="0"/>
              <a:t>成熟</a:t>
            </a:r>
            <a:r>
              <a:rPr lang="en-US" altLang="zh-CN" dirty="0"/>
              <a:t>NCU</a:t>
            </a:r>
            <a:r>
              <a:rPr lang="zh-CN" altLang="en-US" dirty="0"/>
              <a:t>对齐</a:t>
            </a:r>
            <a:endParaRPr lang="en-US" altLang="zh-CN" dirty="0"/>
          </a:p>
          <a:p>
            <a:r>
              <a:rPr lang="zh-CN" altLang="en-US" dirty="0"/>
              <a:t>从</a:t>
            </a:r>
            <a:r>
              <a:rPr lang="en-US" altLang="zh-CN" dirty="0"/>
              <a:t>profiling</a:t>
            </a:r>
            <a:r>
              <a:rPr lang="zh-CN" altLang="en-US" dirty="0"/>
              <a:t>信息</a:t>
            </a:r>
            <a:r>
              <a:rPr lang="en-US" altLang="zh-CN" dirty="0"/>
              <a:t>+</a:t>
            </a:r>
            <a:r>
              <a:rPr lang="zh-CN" altLang="en-US" dirty="0"/>
              <a:t>细粒度瓶颈诊断</a:t>
            </a:r>
            <a:r>
              <a:rPr lang="en-US" altLang="zh-CN" dirty="0"/>
              <a:t>+</a:t>
            </a:r>
            <a:r>
              <a:rPr lang="zh-CN" altLang="en-US" dirty="0"/>
              <a:t>条件触发的候选动作：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）详细调研</a:t>
            </a:r>
            <a:r>
              <a:rPr lang="en-US" altLang="zh-CN" dirty="0" err="1"/>
              <a:t>cuda</a:t>
            </a:r>
            <a:r>
              <a:rPr lang="en-US" altLang="zh-CN" dirty="0"/>
              <a:t>-optimized-skills</a:t>
            </a:r>
            <a:r>
              <a:rPr lang="zh-CN" altLang="en-US" dirty="0"/>
              <a:t>，迁移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）映射建立（</a:t>
            </a:r>
            <a:r>
              <a:rPr lang="en-US" altLang="zh-CN" dirty="0" err="1"/>
              <a:t>XGBoost</a:t>
            </a:r>
            <a:r>
              <a:rPr lang="zh-CN" altLang="en-US" dirty="0"/>
              <a:t>模型训练</a:t>
            </a:r>
            <a:r>
              <a:rPr lang="en-US" altLang="zh-CN" dirty="0"/>
              <a:t>+SHAP</a:t>
            </a:r>
            <a:r>
              <a:rPr lang="zh-CN" altLang="en-US" dirty="0"/>
              <a:t>重要性筛选）：基于</a:t>
            </a:r>
            <a:r>
              <a:rPr lang="en-US" altLang="zh-CN" dirty="0" err="1"/>
              <a:t>FlagGems</a:t>
            </a:r>
            <a:r>
              <a:rPr lang="zh-CN" altLang="en-US" dirty="0"/>
              <a:t>真实</a:t>
            </a:r>
            <a:r>
              <a:rPr lang="en-US" altLang="zh-CN" dirty="0"/>
              <a:t>diff</a:t>
            </a:r>
            <a:r>
              <a:rPr lang="zh-CN" altLang="en-US" dirty="0"/>
              <a:t>（有无前后</a:t>
            </a:r>
            <a:r>
              <a:rPr lang="en-US" altLang="zh-CN" dirty="0"/>
              <a:t>profiling</a:t>
            </a:r>
            <a:r>
              <a:rPr lang="zh-CN" altLang="en-US" dirty="0"/>
              <a:t>数据？）</a:t>
            </a:r>
            <a:r>
              <a:rPr lang="en-US" altLang="zh-CN" dirty="0"/>
              <a:t> + XSAI</a:t>
            </a:r>
            <a:r>
              <a:rPr lang="zh-CN" altLang="en-US" dirty="0"/>
              <a:t>白盒重放（</a:t>
            </a:r>
            <a:r>
              <a:rPr lang="en-US" altLang="zh-CN" dirty="0"/>
              <a:t>profiling</a:t>
            </a:r>
            <a:r>
              <a:rPr lang="zh-CN" altLang="en-US" dirty="0"/>
              <a:t>全集到最小必要集合的科学筛选）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）国产卡的映射对齐：人工专家迁移</a:t>
            </a:r>
            <a:r>
              <a:rPr lang="en-US" altLang="zh-CN" dirty="0"/>
              <a:t>/</a:t>
            </a:r>
            <a:r>
              <a:rPr lang="zh-CN" altLang="en-US" dirty="0"/>
              <a:t>迁移学习算法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3C3D5-34BC-4C44-8899-411B442B07B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736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7496-2AAF-A14B-DE97-B11195CFE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FECBDD-E549-D6A9-91FB-97DC40639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F504FD-6679-6146-D0CA-6E02CF8AC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799B4-86A6-441C-8F8B-E89425B01F93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3987BD-450A-72F7-F4BA-04A2DBE3C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702B07-30E7-35ED-C713-25DAB5BD1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6872-4A01-4F1E-AD88-03E391C68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38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ADE53B-AB40-8959-1B2E-D447BE7F7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C47CFA-5F44-5CD3-4056-DAAF13135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4B34E1-8C92-E5F5-AB3E-9FFD04FD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799B4-86A6-441C-8F8B-E89425B01F93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75690F-0F48-6036-88CF-7AC46FBA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3B1D67-AD3E-1FB2-F44A-7AABB0A66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6872-4A01-4F1E-AD88-03E391C68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02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AE035-18F8-DE57-7BB7-91A8DEA0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67F160-7A29-FDB8-93C4-9131A57D1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933579-C67B-F59A-3995-2D420C57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799B4-86A6-441C-8F8B-E89425B01F93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5AF75A-FB68-4554-0228-89B46B67D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FA6DE5-41B6-3656-297E-F26DB1A14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6872-4A01-4F1E-AD88-03E391C68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247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14F790-4CF6-AF24-5108-53735795D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7B894D-2D00-B84C-C264-ADA825640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538004-DE92-FD03-F81B-999E1B225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9D7ED7-D5AF-83E7-8B4E-E5B49B575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799B4-86A6-441C-8F8B-E89425B01F93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8C86F6-060D-3D7E-4E53-5E251472D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1C043F-EAB9-72C6-2FF7-AD0C48C2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6872-4A01-4F1E-AD88-03E391C68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582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6B7AD6-C580-ADF8-4606-921667663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12B23C-249D-16D7-145C-13912DA29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7B06FC-2CAC-94EC-2AA2-FDE7D24DB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671000-0DCF-AEF7-685B-035F27BAF4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718D7A-6E23-1FB8-8091-9C1F04A51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E1A2B9A-094E-C19A-E4AC-4ADB4E8C6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799B4-86A6-441C-8F8B-E89425B01F93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613AAE0-B9BE-194C-FB1E-6B8EFA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EA5641-D1F7-5DCC-3592-839479A81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6872-4A01-4F1E-AD88-03E391C68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993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D439DA-E3BE-ED60-0B57-D7AA6B521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7A19ED-86D0-797E-AE1F-1A2D942A9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799B4-86A6-441C-8F8B-E89425B01F93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42CD83-2D6C-B578-760F-ED204A045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99FEC5-4EB8-8BC6-ABE7-E946FABB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6872-4A01-4F1E-AD88-03E391C68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573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CCA17B-7A28-74AD-DC73-4B620E806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799B4-86A6-441C-8F8B-E89425B01F93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C7C9D3-6E03-4B69-9F60-E6F2749DB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DA895B-70A8-C2B8-2BC2-50F363E6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6872-4A01-4F1E-AD88-03E391C68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874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B81F2-4D8E-875D-9C22-87EED21A6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944B60-EA78-8C4E-0E47-7AEF6BC1A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44420D-DE37-0B1E-D4FC-5AACD24B8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B31067-63ED-1A60-19E8-72A52F514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799B4-86A6-441C-8F8B-E89425B01F93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A25923-47C8-3FBB-ECC8-E9EF86C9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742550-3196-7438-79CC-00F81FFE2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6872-4A01-4F1E-AD88-03E391C68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89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5862F-560D-4996-AE46-ABAAF74FF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BC0983-290A-C38F-039F-CBC153CC17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F0AE5E-3139-7C9C-C5EF-4188723E6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1CF992-26DF-E031-871C-C0B327B1D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799B4-86A6-441C-8F8B-E89425B01F93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567D11-A50D-3B54-7C79-FD388CC17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2D00F6-AF66-287C-D069-90314DB6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6872-4A01-4F1E-AD88-03E391C68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58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089973-C77B-9013-68C0-62747ACAB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7C447A-14AA-7005-06F9-41CF89F26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5711F5-0D6F-4DB6-F1AB-A93DA28E8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799B4-86A6-441C-8F8B-E89425B01F93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842ABA-E0EE-3F5D-C972-6E7D64EB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0FB26B-BFD5-96DD-ADE2-6D4979C1A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6872-4A01-4F1E-AD88-03E391C68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591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4FB97DB-CF2B-65AA-6842-B7D19B25DE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1EE2A9-EFCA-8ADC-3E04-0B3C08982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CB5006-5249-5663-E586-FA39427A0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799B4-86A6-441C-8F8B-E89425B01F93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A6F22E-DDE2-5343-89C0-ABAE7C034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32D8E6-F024-6A52-572A-FA7E0DEA4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6872-4A01-4F1E-AD88-03E391C68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993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D547A95-5AAE-86D1-3B44-D38926119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E822E1-17FD-1B29-36DE-E9CB44F86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035743-7FEE-3A89-7D56-384F385AC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799B4-86A6-441C-8F8B-E89425B01F93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A7A579-8FB5-BF9F-10F2-8C19E2AA7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D2FF6B-6B59-939F-33F3-9D99A4483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76872-4A01-4F1E-AD88-03E391C68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530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5CE4DD-B4A0-3BB7-B897-1F617E9E07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HG-KDA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1B0369-63DD-CEF3-6041-678532DD2E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Hardware-Grounded Kernel Design Agent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038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75C7C9-F86C-4445-A364-6B608BDB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传统</a:t>
            </a:r>
            <a:r>
              <a:rPr lang="en-US" altLang="zh-CN" dirty="0"/>
              <a:t>Kernel Agent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4A1082D-7A1A-23E2-13CA-67787A868F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611" y="2159696"/>
            <a:ext cx="11446777" cy="332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00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A686-69D8-8CD6-A34E-21DBCED56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BC16EA-E542-6D64-27D2-CBCFBBEE3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HG-KDA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1F7B69-92A7-D60D-4D7A-A9641B7AD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92" y="2288811"/>
            <a:ext cx="11970815" cy="304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57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FE80D5-1A0D-09FB-0E55-A454AF6FC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厂商原始</a:t>
            </a:r>
            <a:r>
              <a:rPr lang="en-US" altLang="zh-CN" dirty="0"/>
              <a:t>profiling</a:t>
            </a:r>
            <a:r>
              <a:rPr lang="zh-CN" altLang="en-US" dirty="0"/>
              <a:t>信息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3F50A8-5AB8-8E82-B60C-5C55F98F8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15" y="1892276"/>
            <a:ext cx="6466130" cy="421803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4DAE8AA-6814-5914-3058-A1161ED69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804" y="2214643"/>
            <a:ext cx="3704433" cy="357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79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F81F7-EEA0-A032-EE24-BCB3E946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跨平台标准化证据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8A3195-D41D-0C3D-0DFF-2BBA1B9BE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14" y="2955316"/>
            <a:ext cx="7924610" cy="344548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F22DC0F-C690-E08A-BA06-89F123823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557" y="324158"/>
            <a:ext cx="4640810" cy="32758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52720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12297E-73ED-FB71-2844-F26E70581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细粒度瓶颈诊断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D1C902-DF88-40F4-2EFC-94E909F51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05247"/>
            <a:ext cx="10397905" cy="341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28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3E6A0A3D-9D73-BB54-26CA-FDC5A0365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1" y="2133567"/>
            <a:ext cx="12051097" cy="428021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6B7D8CF-E116-A5E9-4176-9A89620C6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08"/>
            <a:ext cx="10515600" cy="1325563"/>
          </a:xfrm>
        </p:spPr>
        <p:txBody>
          <a:bodyPr/>
          <a:lstStyle/>
          <a:p>
            <a:r>
              <a:rPr lang="zh-CN" altLang="en-US" dirty="0"/>
              <a:t>条件触发的候选动作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8EC973B3-9D23-22C1-8A23-9686395ED7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3772973"/>
              </p:ext>
            </p:extLst>
          </p:nvPr>
        </p:nvGraphicFramePr>
        <p:xfrm>
          <a:off x="7384312" y="636090"/>
          <a:ext cx="426897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653">
                  <a:extLst>
                    <a:ext uri="{9D8B030D-6E8A-4147-A177-3AD203B41FA5}">
                      <a16:colId xmlns:a16="http://schemas.microsoft.com/office/drawing/2014/main" val="1902638233"/>
                    </a:ext>
                  </a:extLst>
                </a:gridCol>
                <a:gridCol w="1158063">
                  <a:extLst>
                    <a:ext uri="{9D8B030D-6E8A-4147-A177-3AD203B41FA5}">
                      <a16:colId xmlns:a16="http://schemas.microsoft.com/office/drawing/2014/main" val="3827289799"/>
                    </a:ext>
                  </a:extLst>
                </a:gridCol>
                <a:gridCol w="1355651">
                  <a:extLst>
                    <a:ext uri="{9D8B030D-6E8A-4147-A177-3AD203B41FA5}">
                      <a16:colId xmlns:a16="http://schemas.microsoft.com/office/drawing/2014/main" val="3576617589"/>
                    </a:ext>
                  </a:extLst>
                </a:gridCol>
                <a:gridCol w="850605">
                  <a:extLst>
                    <a:ext uri="{9D8B030D-6E8A-4147-A177-3AD203B41FA5}">
                      <a16:colId xmlns:a16="http://schemas.microsoft.com/office/drawing/2014/main" val="18797185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变体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Tile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Pipeline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Unroll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831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64×64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2 stages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427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128×64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2 stages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7967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v3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128×128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3 stages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122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v4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64×128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4 stages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8560809"/>
                  </a:ext>
                </a:extLst>
              </a:tr>
            </a:tbl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A300A8C9-68FC-39C0-77FB-6B41B4BF6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490" y="4749388"/>
            <a:ext cx="3943700" cy="121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73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5D596-DCB5-D892-2DD5-6E9CC32E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相关工作：</a:t>
            </a:r>
            <a:r>
              <a:rPr lang="en-US" altLang="zh-CN" dirty="0" err="1"/>
              <a:t>cuda</a:t>
            </a:r>
            <a:r>
              <a:rPr lang="en-US" altLang="zh-CN" dirty="0"/>
              <a:t>-optimized-skills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DA9783-0049-33FE-5CCB-5E79B78A8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8999"/>
            <a:ext cx="10515600" cy="2747963"/>
          </a:xfrm>
        </p:spPr>
        <p:txBody>
          <a:bodyPr/>
          <a:lstStyle/>
          <a:p>
            <a:r>
              <a:rPr lang="zh-CN" altLang="zh-CN" dirty="0"/>
              <a:t>从NVIDIA/NCU扩展到XSAI和国产芯片</a:t>
            </a:r>
          </a:p>
          <a:p>
            <a:r>
              <a:rPr lang="zh-CN" altLang="zh-CN" dirty="0"/>
              <a:t>从三类粗粒度指标扩展到细粒度瓶颈原因</a:t>
            </a:r>
          </a:p>
          <a:p>
            <a:r>
              <a:rPr lang="en-US" altLang="zh-CN" dirty="0" err="1"/>
              <a:t>FlagGems</a:t>
            </a:r>
            <a:r>
              <a:rPr lang="zh-CN" altLang="en-US" dirty="0"/>
              <a:t>数据</a:t>
            </a:r>
            <a:r>
              <a:rPr lang="zh-CN" altLang="zh-CN" dirty="0"/>
              <a:t>显式建立“证据—瓶颈—动作”的条件映射</a:t>
            </a:r>
          </a:p>
          <a:p>
            <a:r>
              <a:rPr lang="zh-CN" altLang="zh-CN" dirty="0"/>
              <a:t>用XSAI</a:t>
            </a:r>
            <a:r>
              <a:rPr lang="zh-CN" altLang="en-US" dirty="0"/>
              <a:t>白盒</a:t>
            </a:r>
            <a:r>
              <a:rPr lang="zh-CN" altLang="zh-CN" dirty="0"/>
              <a:t>验证动作机制</a:t>
            </a:r>
          </a:p>
          <a:p>
            <a:r>
              <a:rPr lang="zh-CN" altLang="zh-CN" dirty="0"/>
              <a:t>研究白盒知识向国产灰盒芯片的迁移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124723-1DE6-8B71-9CF3-42DB1D04F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86" y="1690688"/>
            <a:ext cx="11171888" cy="11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54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BD51F-3C48-7850-1502-93D385F40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16"/>
            <a:ext cx="10515600" cy="1325563"/>
          </a:xfrm>
        </p:spPr>
        <p:txBody>
          <a:bodyPr/>
          <a:lstStyle/>
          <a:p>
            <a:r>
              <a:rPr lang="en-US" altLang="zh-CN" dirty="0"/>
              <a:t>TODO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BC1504-63C9-9883-52D6-DAAB4B59C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428"/>
            <a:ext cx="10515600" cy="5287556"/>
          </a:xfrm>
        </p:spPr>
        <p:txBody>
          <a:bodyPr>
            <a:normAutofit/>
          </a:bodyPr>
          <a:lstStyle/>
          <a:p>
            <a:r>
              <a:rPr lang="zh-CN" altLang="en-US" dirty="0"/>
              <a:t>调研 </a:t>
            </a:r>
            <a:r>
              <a:rPr lang="en-US" altLang="zh-CN" dirty="0" err="1"/>
              <a:t>KernelGen</a:t>
            </a:r>
            <a:r>
              <a:rPr lang="en-US" altLang="zh-CN" dirty="0"/>
              <a:t> </a:t>
            </a:r>
            <a:r>
              <a:rPr lang="zh-CN" altLang="en-US" dirty="0"/>
              <a:t>现有的框架：接口确认</a:t>
            </a:r>
            <a:r>
              <a:rPr lang="en-US" altLang="zh-CN" dirty="0"/>
              <a:t>+</a:t>
            </a:r>
            <a:r>
              <a:rPr lang="zh-CN" altLang="en-US" dirty="0"/>
              <a:t>避免重复模块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厂商原始</a:t>
            </a:r>
            <a:r>
              <a:rPr lang="en-US" altLang="zh-CN" dirty="0"/>
              <a:t>profiling</a:t>
            </a:r>
            <a:r>
              <a:rPr lang="zh-CN" altLang="en-US" dirty="0"/>
              <a:t>信息</a:t>
            </a:r>
            <a:r>
              <a:rPr lang="en-US" altLang="zh-CN" dirty="0"/>
              <a:t>+</a:t>
            </a:r>
            <a:r>
              <a:rPr lang="zh-CN" altLang="en-US" dirty="0"/>
              <a:t>跨平台标准化证据</a:t>
            </a:r>
            <a:endParaRPr lang="en-US" altLang="zh-CN" dirty="0"/>
          </a:p>
          <a:p>
            <a:pPr lvl="1"/>
            <a:r>
              <a:rPr lang="zh-CN" altLang="en-US" dirty="0"/>
              <a:t>各个国产卡的</a:t>
            </a:r>
            <a:r>
              <a:rPr lang="en-US" altLang="zh-CN" dirty="0"/>
              <a:t>profiler</a:t>
            </a:r>
            <a:r>
              <a:rPr lang="zh-CN" altLang="en-US" dirty="0"/>
              <a:t>调研</a:t>
            </a:r>
            <a:endParaRPr lang="en-US" altLang="zh-CN" dirty="0"/>
          </a:p>
          <a:p>
            <a:pPr lvl="1"/>
            <a:r>
              <a:rPr lang="zh-CN" altLang="en-US" dirty="0"/>
              <a:t>与全集</a:t>
            </a:r>
            <a:r>
              <a:rPr lang="en-US" altLang="zh-CN" dirty="0"/>
              <a:t>XSAI/</a:t>
            </a:r>
            <a:r>
              <a:rPr lang="zh-CN" altLang="en-US" dirty="0"/>
              <a:t>成熟</a:t>
            </a:r>
            <a:r>
              <a:rPr lang="en-US" altLang="zh-CN" dirty="0"/>
              <a:t>NCU</a:t>
            </a:r>
            <a:r>
              <a:rPr lang="zh-CN" altLang="en-US" dirty="0"/>
              <a:t>对齐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profiling</a:t>
            </a:r>
            <a:r>
              <a:rPr lang="zh-CN" altLang="en-US" dirty="0"/>
              <a:t>信息→细粒度瓶颈诊断→条件触发的候选动作：</a:t>
            </a:r>
            <a:endParaRPr lang="en-US" altLang="zh-CN" dirty="0"/>
          </a:p>
          <a:p>
            <a:pPr lvl="1"/>
            <a:r>
              <a:rPr lang="zh-CN" altLang="en-US" dirty="0"/>
              <a:t>详细调研</a:t>
            </a:r>
            <a:r>
              <a:rPr lang="en-US" altLang="zh-CN" dirty="0" err="1"/>
              <a:t>cuda</a:t>
            </a:r>
            <a:r>
              <a:rPr lang="en-US" altLang="zh-CN" dirty="0"/>
              <a:t>-optimized-skills</a:t>
            </a:r>
            <a:r>
              <a:rPr lang="zh-CN" altLang="en-US" dirty="0"/>
              <a:t>，迁移</a:t>
            </a:r>
            <a:endParaRPr lang="en-US" altLang="zh-CN" dirty="0"/>
          </a:p>
          <a:p>
            <a:pPr lvl="1"/>
            <a:r>
              <a:rPr lang="zh-CN" altLang="en-US" dirty="0"/>
              <a:t>映射建立（</a:t>
            </a:r>
            <a:r>
              <a:rPr lang="en-US" altLang="zh-CN" dirty="0" err="1"/>
              <a:t>XGBoost</a:t>
            </a:r>
            <a:r>
              <a:rPr lang="zh-CN" altLang="en-US" dirty="0"/>
              <a:t>模型训练</a:t>
            </a:r>
            <a:r>
              <a:rPr lang="en-US" altLang="zh-CN" dirty="0"/>
              <a:t>+SHAP</a:t>
            </a:r>
            <a:r>
              <a:rPr lang="zh-CN" altLang="en-US" dirty="0"/>
              <a:t>重要性筛选）</a:t>
            </a:r>
            <a:endParaRPr lang="en-US" altLang="zh-CN" dirty="0"/>
          </a:p>
          <a:p>
            <a:pPr lvl="2"/>
            <a:r>
              <a:rPr lang="zh-CN" altLang="en-US" dirty="0"/>
              <a:t>基于</a:t>
            </a:r>
            <a:r>
              <a:rPr lang="en-US" altLang="zh-CN" dirty="0" err="1"/>
              <a:t>FlagGems</a:t>
            </a:r>
            <a:r>
              <a:rPr lang="zh-CN" altLang="en-US" dirty="0"/>
              <a:t>真实</a:t>
            </a:r>
            <a:r>
              <a:rPr lang="en-US" altLang="zh-CN" dirty="0"/>
              <a:t>diff</a:t>
            </a:r>
            <a:r>
              <a:rPr lang="zh-CN" altLang="en-US" dirty="0"/>
              <a:t>：有无前后</a:t>
            </a:r>
            <a:r>
              <a:rPr lang="en-US" altLang="zh-CN" dirty="0"/>
              <a:t>profiling</a:t>
            </a:r>
            <a:r>
              <a:rPr lang="zh-CN" altLang="en-US" dirty="0"/>
              <a:t>数据？</a:t>
            </a:r>
            <a:endParaRPr lang="en-US" altLang="zh-CN" dirty="0"/>
          </a:p>
          <a:p>
            <a:pPr lvl="2"/>
            <a:r>
              <a:rPr lang="en-US" altLang="zh-CN" dirty="0"/>
              <a:t>XSAI</a:t>
            </a:r>
            <a:r>
              <a:rPr lang="zh-CN" altLang="en-US" dirty="0"/>
              <a:t>白盒重放：</a:t>
            </a:r>
            <a:r>
              <a:rPr lang="en-US" altLang="zh-CN" dirty="0"/>
              <a:t>profiling</a:t>
            </a:r>
            <a:r>
              <a:rPr lang="zh-CN" altLang="en-US" dirty="0"/>
              <a:t>全集到最小必要集合的科学筛选，简化映射的自变量端</a:t>
            </a:r>
            <a:endParaRPr lang="en-US" altLang="zh-CN" dirty="0"/>
          </a:p>
          <a:p>
            <a:pPr lvl="2"/>
            <a:r>
              <a:rPr lang="zh-CN" altLang="en-US" dirty="0"/>
              <a:t>国产卡的映射对齐：人工专家迁移</a:t>
            </a:r>
            <a:r>
              <a:rPr lang="en-US" altLang="zh-CN" dirty="0"/>
              <a:t>/</a:t>
            </a:r>
            <a:r>
              <a:rPr lang="zh-CN" altLang="en-US" dirty="0"/>
              <a:t>迁移学习算法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3586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A8942-61EA-6741-E001-6B19721BD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650" y="2766218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请批评指正！</a:t>
            </a:r>
          </a:p>
        </p:txBody>
      </p:sp>
    </p:spTree>
    <p:extLst>
      <p:ext uri="{BB962C8B-B14F-4D97-AF65-F5344CB8AC3E}">
        <p14:creationId xmlns:p14="http://schemas.microsoft.com/office/powerpoint/2010/main" val="307437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1063</Words>
  <Application>Microsoft Office PowerPoint</Application>
  <PresentationFormat>宽屏</PresentationFormat>
  <Paragraphs>66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HG-KDA</vt:lpstr>
      <vt:lpstr>传统Kernel Agent</vt:lpstr>
      <vt:lpstr>HG-KDA</vt:lpstr>
      <vt:lpstr>厂商原始profiling信息</vt:lpstr>
      <vt:lpstr>跨平台标准化证据</vt:lpstr>
      <vt:lpstr>细粒度瓶颈诊断</vt:lpstr>
      <vt:lpstr>条件触发的候选动作</vt:lpstr>
      <vt:lpstr>相关工作：cuda-optimized-skills</vt:lpstr>
      <vt:lpstr>TODO</vt:lpstr>
      <vt:lpstr>请批评指正！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hanle zhang</dc:creator>
  <cp:lastModifiedBy>hanle zhang</cp:lastModifiedBy>
  <cp:revision>96</cp:revision>
  <dcterms:created xsi:type="dcterms:W3CDTF">2026-09-16T07:10:00Z</dcterms:created>
  <dcterms:modified xsi:type="dcterms:W3CDTF">2026-09-16T14:18:04Z</dcterms:modified>
</cp:coreProperties>
</file>