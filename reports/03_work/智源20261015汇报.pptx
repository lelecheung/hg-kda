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4782" autoAdjust="0"/>
  </p:normalViewPr>
  <p:slideViewPr>
    <p:cSldViewPr snapToGrid="0">
      <p:cViewPr varScale="1">
        <p:scale>
          <a:sx n="47" d="100"/>
          <a:sy n="47" d="100"/>
        </p:scale>
        <p:origin x="1085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EF292-53C8-4FA0-85A4-F94534BD000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411D4-5028-46B3-91C8-0A6D84C2D8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94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算子体检，分阶段化</a:t>
            </a:r>
            <a:endParaRPr lang="en-US" altLang="zh-CN" dirty="0"/>
          </a:p>
          <a:p>
            <a:r>
              <a:rPr lang="zh-CN" altLang="en-US" dirty="0"/>
              <a:t>算子类型分类，指标分类，知识库分类化</a:t>
            </a:r>
            <a:endParaRPr lang="en-US" altLang="zh-CN" dirty="0"/>
          </a:p>
          <a:p>
            <a:r>
              <a:rPr lang="en-US" altLang="zh-CN" dirty="0"/>
              <a:t>TLE/</a:t>
            </a:r>
            <a:r>
              <a:rPr lang="zh-CN" altLang="en-US" dirty="0"/>
              <a:t>厂商原生</a:t>
            </a:r>
            <a:endParaRPr lang="en-US" altLang="zh-CN" dirty="0"/>
          </a:p>
          <a:p>
            <a:r>
              <a:rPr lang="zh-CN" altLang="en-US" dirty="0"/>
              <a:t>复杂算子用指令级分析</a:t>
            </a:r>
            <a:r>
              <a:rPr lang="en-US" altLang="zh-CN" dirty="0"/>
              <a:t>/</a:t>
            </a:r>
            <a:r>
              <a:rPr lang="zh-CN" altLang="en-US" dirty="0"/>
              <a:t>模拟器</a:t>
            </a:r>
            <a:r>
              <a:rPr lang="en-US" altLang="zh-CN" dirty="0"/>
              <a:t>/</a:t>
            </a:r>
            <a:r>
              <a:rPr lang="zh-CN" altLang="en-US" dirty="0"/>
              <a:t>热点分析</a:t>
            </a:r>
            <a:endParaRPr lang="en-US" altLang="zh-CN" dirty="0"/>
          </a:p>
          <a:p>
            <a:r>
              <a:rPr lang="en-US" altLang="zh-CN" dirty="0" err="1"/>
              <a:t>Flaggems-sglang</a:t>
            </a:r>
            <a:r>
              <a:rPr lang="en-US" altLang="zh-CN" dirty="0"/>
              <a:t> 5</a:t>
            </a:r>
            <a:r>
              <a:rPr lang="zh-CN" altLang="en-US"/>
              <a:t>个华为算子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A411D4-5028-46B3-91C8-0A6D84C2D8B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41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C77F3-0783-D7F0-984F-DD5089DF1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E08898-58D1-8EF5-EE6B-D022F8D43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7E5C4D-FDD8-7E2F-D074-9C257646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53E-00D7-44F4-94A4-85E7795CDA7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1DB37E-3063-AC6C-4EEE-6AE3655D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48FAF-A79B-975B-E459-06B8AB71E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F6F-4292-4E4D-8C27-B6D149D58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532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BED13-1354-FC2A-0B6E-3BCAB0418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9CCBA8-2D68-1911-BD2F-5548D6CE0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464875-502D-1C90-8DAA-400BF056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53E-00D7-44F4-94A4-85E7795CDA7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ACD069-19BA-FBC0-B295-E4C6D78F5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05237B-173B-6DDF-2E4D-AB99192AA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F6F-4292-4E4D-8C27-B6D149D58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33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CE24C-3D72-D201-4ADC-6364D5486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785C10-20D5-5D17-B0CC-4FBF33939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6D0569-9B6E-EA30-649B-6D05958E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53E-00D7-44F4-94A4-85E7795CDA7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4E5A41-07B0-5754-78D1-8561355A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35658A-8216-FE9C-CC1B-767C8429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F6F-4292-4E4D-8C27-B6D149D58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8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BFBA1-0671-7F56-1E30-7EFBA841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EE221-6009-35C0-5F67-ED6460242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452953-0F0A-ADD8-BD30-E982A937C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8ECFBB-924A-5A40-61C3-EC8A69806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53E-00D7-44F4-94A4-85E7795CDA7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2239D5-BDA3-B16B-162B-EE467278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98C1FD-9615-6B48-BEE6-5B57304BB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F6F-4292-4E4D-8C27-B6D149D58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34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D9D1F-2EDC-EC6D-9A59-DC90E8F74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1E1074-30E2-7D50-D8D3-10F22564F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C9CF28-9C96-321C-96BF-263CC67D1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C28B0F-37C9-DB66-B7F0-42B06ECC3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B1794C-8D82-5DD6-754A-0C04EA45A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B69323-84F5-E6FF-A524-2A8F4B87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53E-00D7-44F4-94A4-85E7795CDA7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3E587D-7EA4-FB95-56DB-88E684CB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E02C75-FE60-FCF7-2E55-6DA8F225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F6F-4292-4E4D-8C27-B6D149D58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325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DB312-F73F-9318-6049-F419E38C4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1143DD8-B7CC-405B-A931-5F9D77BC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53E-00D7-44F4-94A4-85E7795CDA7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6068EF-0B4C-BA7D-65A8-A4561EB40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E0F048-4E02-2DCC-9544-4A078C0D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F6F-4292-4E4D-8C27-B6D149D58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918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84B239-7AC9-FCFF-3D5C-5B6136316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53E-00D7-44F4-94A4-85E7795CDA7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D7290B-0295-15ED-0209-B1759226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463D50-CECC-1ED4-83E3-F869F3089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F6F-4292-4E4D-8C27-B6D149D58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484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976BB-469D-9F5D-AE56-CE9636CDF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67CE5B-2234-5B8D-3D7E-40A721757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63DA76-9660-0236-204D-C2D202EB8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CF32DC-49F7-49AB-1D20-CDB6006D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53E-00D7-44F4-94A4-85E7795CDA7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21FD28-8D10-1663-0C73-506D2ACD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6A45C4-4853-EA84-60D7-95B242D5B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F6F-4292-4E4D-8C27-B6D149D58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8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8BFCDF-537E-E3E9-DD57-CF264C7E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E64151-D5CE-8E3C-1F40-1F63D14474A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C7C30B-1F31-62AF-AA26-F4F29A331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0CF20C-F276-F6DC-484D-6423D14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53E-00D7-44F4-94A4-85E7795CDA7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2465FB-0859-A1E6-0F73-11AE0859E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D99A84-8B3B-2E4B-7A00-E17EAB42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F6F-4292-4E4D-8C27-B6D149D58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103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61F933-CA74-1688-8B9A-1074BB19F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9AF7B9-9AAA-EB51-930D-9875865F6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300E18-082A-A3BB-3178-204C0A75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53E-00D7-44F4-94A4-85E7795CDA7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38FEAA-8FF6-3547-EE44-1F89E2F0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5243CF-6856-FDD1-9610-B4908B6D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F6F-4292-4E4D-8C27-B6D149D58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505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71E841-2EBA-1953-5C6E-C09DB310F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72C087-4219-FF1A-250C-5F201C44F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59A145-EC27-10C0-E975-705AF4695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53E-00D7-44F4-94A4-85E7795CDA7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AB195F-F839-21B0-E7D9-10FA8927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077206-B9F6-541A-A05D-C9595D3F8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F6F-4292-4E4D-8C27-B6D149D58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084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14F8B7-11F2-B156-F0CE-876DA2140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310ACB-2528-D44B-5FCD-FB4DEBA97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6A3122-FCD6-467F-B7DD-6E024A8AD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3953E-00D7-44F4-94A4-85E7795CDA7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4BA8E0-6301-D03B-F14C-D18252831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63A269-F7AB-F799-3539-F88113677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12F6F-4292-4E4D-8C27-B6D149D58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79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FA8788-66DD-F12E-DF31-5293957126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HG-KDA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3D6D98-A73B-A8FF-8B89-BDAD44500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4810"/>
            <a:ext cx="9144000" cy="1655762"/>
          </a:xfrm>
        </p:spPr>
        <p:txBody>
          <a:bodyPr/>
          <a:lstStyle/>
          <a:p>
            <a:r>
              <a:rPr lang="en-US" altLang="zh-CN" dirty="0"/>
              <a:t>Ascend 910B </a:t>
            </a:r>
            <a:r>
              <a:rPr lang="zh-CN" altLang="en-US" dirty="0"/>
              <a:t>算子优化</a:t>
            </a:r>
          </a:p>
        </p:txBody>
      </p:sp>
    </p:spTree>
    <p:extLst>
      <p:ext uri="{BB962C8B-B14F-4D97-AF65-F5344CB8AC3E}">
        <p14:creationId xmlns:p14="http://schemas.microsoft.com/office/powerpoint/2010/main" val="1870068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93CB1-5DA7-6646-DC44-D206A6A69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Excel </a:t>
            </a:r>
            <a:r>
              <a:rPr lang="zh-CN" altLang="en-US" dirty="0"/>
              <a:t>中已超过验收线的算子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CB8458F-5255-D155-9017-4E7E87E9D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009219"/>
              </p:ext>
            </p:extLst>
          </p:nvPr>
        </p:nvGraphicFramePr>
        <p:xfrm>
          <a:off x="838201" y="2204370"/>
          <a:ext cx="10515599" cy="3310237"/>
        </p:xfrm>
        <a:graphic>
          <a:graphicData uri="http://schemas.openxmlformats.org/drawingml/2006/table">
            <a:tbl>
              <a:tblPr/>
              <a:tblGrid>
                <a:gridCol w="2464010">
                  <a:extLst>
                    <a:ext uri="{9D8B030D-6E8A-4147-A177-3AD203B41FA5}">
                      <a16:colId xmlns:a16="http://schemas.microsoft.com/office/drawing/2014/main" val="2659834438"/>
                    </a:ext>
                  </a:extLst>
                </a:gridCol>
                <a:gridCol w="1182227">
                  <a:extLst>
                    <a:ext uri="{9D8B030D-6E8A-4147-A177-3AD203B41FA5}">
                      <a16:colId xmlns:a16="http://schemas.microsoft.com/office/drawing/2014/main" val="4190552744"/>
                    </a:ext>
                  </a:extLst>
                </a:gridCol>
                <a:gridCol w="2389343">
                  <a:extLst>
                    <a:ext uri="{9D8B030D-6E8A-4147-A177-3AD203B41FA5}">
                      <a16:colId xmlns:a16="http://schemas.microsoft.com/office/drawing/2014/main" val="3751362566"/>
                    </a:ext>
                  </a:extLst>
                </a:gridCol>
                <a:gridCol w="1543118">
                  <a:extLst>
                    <a:ext uri="{9D8B030D-6E8A-4147-A177-3AD203B41FA5}">
                      <a16:colId xmlns:a16="http://schemas.microsoft.com/office/drawing/2014/main" val="231252762"/>
                    </a:ext>
                  </a:extLst>
                </a:gridCol>
                <a:gridCol w="1182227">
                  <a:extLst>
                    <a:ext uri="{9D8B030D-6E8A-4147-A177-3AD203B41FA5}">
                      <a16:colId xmlns:a16="http://schemas.microsoft.com/office/drawing/2014/main" val="3803083313"/>
                    </a:ext>
                  </a:extLst>
                </a:gridCol>
                <a:gridCol w="1754674">
                  <a:extLst>
                    <a:ext uri="{9D8B030D-6E8A-4147-A177-3AD203B41FA5}">
                      <a16:colId xmlns:a16="http://schemas.microsoft.com/office/drawing/2014/main" val="508469148"/>
                    </a:ext>
                  </a:extLst>
                </a:gridCol>
              </a:tblGrid>
              <a:tr h="4480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算子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Excel 记录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原版 FlagGems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修复版 FlagGems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HG-KDA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HG-KDA 相对 FlagGems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7F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145676"/>
                  </a:ext>
                </a:extLst>
              </a:tr>
              <a:tr h="5724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mse_loss_backward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1.1688×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1.11×，27/27 通过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—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1.34×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1.20×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268378"/>
                  </a:ext>
                </a:extLst>
              </a:tr>
              <a:tr h="5724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t_copy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3.0894×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1.96×，9/9 通过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—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3.43×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1.73×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892443"/>
                  </a:ext>
                </a:extLst>
              </a:tr>
              <a:tr h="5724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prelu_kernel_backward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1.8152×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正确性失败，3/21 通过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0.49×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0.95×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1.97×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3420"/>
                  </a:ext>
                </a:extLst>
              </a:tr>
              <a:tr h="5724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batch_norm_backward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4.3885×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正确性失败，9/30 通过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2.32×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5.01×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2.19×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274131"/>
                  </a:ext>
                </a:extLst>
              </a:tr>
              <a:tr h="5724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smooth_l1_loss_backward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2.2139×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正确性失败，290/291 通过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2.17×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3.48×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 dirty="0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1.61×</a:t>
                      </a:r>
                    </a:p>
                  </a:txBody>
                  <a:tcPr marL="3733" marR="3733" marT="37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35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429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FDC7C-293D-AB04-16C7-F85CA204C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Excel 中低于 0.8× 的算子</a:t>
            </a: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47AE41D-31E8-B841-18F9-C17D941C8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10340"/>
              </p:ext>
            </p:extLst>
          </p:nvPr>
        </p:nvGraphicFramePr>
        <p:xfrm>
          <a:off x="838200" y="1690688"/>
          <a:ext cx="10740939" cy="2921646"/>
        </p:xfrm>
        <a:graphic>
          <a:graphicData uri="http://schemas.openxmlformats.org/drawingml/2006/table">
            <a:tbl>
              <a:tblPr/>
              <a:tblGrid>
                <a:gridCol w="2344770">
                  <a:extLst>
                    <a:ext uri="{9D8B030D-6E8A-4147-A177-3AD203B41FA5}">
                      <a16:colId xmlns:a16="http://schemas.microsoft.com/office/drawing/2014/main" val="3636438037"/>
                    </a:ext>
                  </a:extLst>
                </a:gridCol>
                <a:gridCol w="1125015">
                  <a:extLst>
                    <a:ext uri="{9D8B030D-6E8A-4147-A177-3AD203B41FA5}">
                      <a16:colId xmlns:a16="http://schemas.microsoft.com/office/drawing/2014/main" val="1560646230"/>
                    </a:ext>
                  </a:extLst>
                </a:gridCol>
                <a:gridCol w="1397388">
                  <a:extLst>
                    <a:ext uri="{9D8B030D-6E8A-4147-A177-3AD203B41FA5}">
                      <a16:colId xmlns:a16="http://schemas.microsoft.com/office/drawing/2014/main" val="4183879390"/>
                    </a:ext>
                  </a:extLst>
                </a:gridCol>
                <a:gridCol w="1125015">
                  <a:extLst>
                    <a:ext uri="{9D8B030D-6E8A-4147-A177-3AD203B41FA5}">
                      <a16:colId xmlns:a16="http://schemas.microsoft.com/office/drawing/2014/main" val="1971499753"/>
                    </a:ext>
                  </a:extLst>
                </a:gridCol>
                <a:gridCol w="1125015">
                  <a:extLst>
                    <a:ext uri="{9D8B030D-6E8A-4147-A177-3AD203B41FA5}">
                      <a16:colId xmlns:a16="http://schemas.microsoft.com/office/drawing/2014/main" val="715656245"/>
                    </a:ext>
                  </a:extLst>
                </a:gridCol>
                <a:gridCol w="3623736">
                  <a:extLst>
                    <a:ext uri="{9D8B030D-6E8A-4147-A177-3AD203B41FA5}">
                      <a16:colId xmlns:a16="http://schemas.microsoft.com/office/drawing/2014/main" val="3453845871"/>
                    </a:ext>
                  </a:extLst>
                </a:gridCol>
              </a:tblGrid>
              <a:tr h="417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算子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Excel 记录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FlagGems 实测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HG-KDA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完整评测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关键优化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374143"/>
                  </a:ext>
                </a:extLst>
              </a:tr>
              <a:tr h="6260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logaddexp2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0.3218×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0.231×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1.262×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36/36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使用数值稳定公式，简化连续输入处理，</a:t>
                      </a:r>
                      <a:endParaRPr lang="en-US" altLang="zh-CN" sz="1400" b="0" i="0" u="none" strike="noStrike" dirty="0">
                        <a:solidFill>
                          <a:srgbClr val="24374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一个 </a:t>
                      </a:r>
                      <a:r>
                        <a:rPr lang="en-US" altLang="zh-CN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program </a:t>
                      </a:r>
                      <a:r>
                        <a:rPr lang="zh-CN" altLang="en-US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处理更多数据</a:t>
                      </a:r>
                      <a:endParaRPr lang="zh-CN" sz="1400" b="0" i="0" u="none" strike="noStrike" dirty="0">
                        <a:solidFill>
                          <a:srgbClr val="24374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265312"/>
                  </a:ext>
                </a:extLst>
              </a:tr>
              <a:tr h="6260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amin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0.5536×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0.308×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0.934×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27/27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直接沿目标维度求最小值，减少重排列、</a:t>
                      </a:r>
                      <a:endParaRPr lang="en-US" altLang="zh-CN" sz="1400" b="0" i="0" u="none" strike="noStrike" dirty="0">
                        <a:solidFill>
                          <a:srgbClr val="24374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类型转换和不必要的边界检查</a:t>
                      </a:r>
                      <a:endParaRPr lang="zh-CN" sz="1400" b="0" i="0" u="none" strike="noStrike" dirty="0">
                        <a:solidFill>
                          <a:srgbClr val="24374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427411"/>
                  </a:ext>
                </a:extLst>
              </a:tr>
              <a:tr h="6260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matmul_bias_activation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0.5408×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0.439×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0.909×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42/42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相邻输出块共享输入，减少重复搬运；</a:t>
                      </a:r>
                      <a:endParaRPr lang="en-US" altLang="zh-CN" sz="1400" b="0" i="0" u="none" strike="noStrike" dirty="0">
                        <a:solidFill>
                          <a:srgbClr val="24374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将偏置和激活合并计算</a:t>
                      </a:r>
                      <a:endParaRPr lang="zh-CN" sz="1400" b="0" i="0" u="none" strike="noStrike" dirty="0">
                        <a:solidFill>
                          <a:srgbClr val="24374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65708"/>
                  </a:ext>
                </a:extLst>
              </a:tr>
              <a:tr h="6260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narrow_copy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0.0138×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约0.010×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i="0" u="none" strike="noStrike">
                          <a:solidFill>
                            <a:srgbClr val="066F6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1.118×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0" i="0" u="none" strike="noStrike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33/33</a:t>
                      </a:r>
                    </a:p>
                  </a:txBody>
                  <a:tcPr marL="3478" marR="3478" marT="347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kern="1200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小输入调用 </a:t>
                      </a:r>
                      <a:r>
                        <a:rPr lang="en-US" altLang="zh-CN" sz="1400" b="0" i="0" u="none" strike="noStrike" kern="1200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CANN </a:t>
                      </a:r>
                      <a:r>
                        <a:rPr lang="zh-CN" altLang="en-US" sz="1400" b="0" i="0" u="none" strike="noStrike" kern="1200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原生复制接口，</a:t>
                      </a:r>
                      <a:endParaRPr lang="en-US" altLang="zh-CN" sz="1400" b="0" i="0" u="none" strike="noStrike" kern="1200" dirty="0">
                        <a:solidFill>
                          <a:srgbClr val="24374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kern="1200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大输入使用 </a:t>
                      </a:r>
                      <a:r>
                        <a:rPr lang="en-US" altLang="zh-CN" sz="1400" b="0" i="0" u="none" strike="noStrike" kern="1200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Triton </a:t>
                      </a:r>
                      <a:r>
                        <a:rPr lang="zh-CN" altLang="en-US" sz="1400" b="0" i="0" u="none" strike="noStrike" kern="1200" dirty="0">
                          <a:solidFill>
                            <a:srgbClr val="24374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分块复制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78480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D699E749-053B-647C-4464-D6E6B9B219B7}"/>
              </a:ext>
            </a:extLst>
          </p:cNvPr>
          <p:cNvSpPr txBox="1"/>
          <p:nvPr/>
        </p:nvSpPr>
        <p:spPr>
          <a:xfrm>
            <a:off x="669908" y="5054915"/>
            <a:ext cx="113542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b="1" dirty="0"/>
              <a:t>查看设备任务记录</a:t>
            </a:r>
            <a:r>
              <a:rPr lang="zh-CN" altLang="zh-CN" dirty="0"/>
              <a:t>：PyTorch 的小型连续复制走 </a:t>
            </a:r>
            <a:r>
              <a:rPr lang="zh-CN" altLang="zh-CN" dirty="0">
                <a:latin typeface="+mn-lt"/>
              </a:rPr>
              <a:t>MEMCPY_ASYNC</a:t>
            </a:r>
            <a:r>
              <a:rPr lang="en-US" altLang="zh-CN" dirty="0">
                <a:latin typeface="+mn-lt"/>
              </a:rPr>
              <a:t> </a:t>
            </a:r>
            <a:r>
              <a:rPr lang="zh-CN" altLang="zh-CN" dirty="0"/>
              <a:t>DMA；纯 Triton 版本走 AIV kernel。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b="1" dirty="0"/>
              <a:t>比较设备耗时</a:t>
            </a:r>
            <a:r>
              <a:rPr lang="zh-CN" altLang="zh-CN" dirty="0"/>
              <a:t>：小输入上，Triton 复制任务明显更慢。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b="1" dirty="0"/>
              <a:t>按规模选择路径</a:t>
            </a:r>
            <a:r>
              <a:rPr lang="zh-CN" altLang="zh-CN" dirty="0"/>
              <a:t>：小输入的数据搬运很快，计算 kernel 的索引、控制等固定开销显得突出，直接调用 CANN DMA 更划算；大输入上，Triton 分块并行复制已比较高效，因此保留。</a:t>
            </a:r>
          </a:p>
        </p:txBody>
      </p:sp>
    </p:spTree>
    <p:extLst>
      <p:ext uri="{BB962C8B-B14F-4D97-AF65-F5344CB8AC3E}">
        <p14:creationId xmlns:p14="http://schemas.microsoft.com/office/powerpoint/2010/main" val="2667686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92656-B095-FB52-8D31-8AA16F7B0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workflow</a:t>
            </a:r>
            <a:r>
              <a:rPr lang="zh-CN" altLang="en-US" dirty="0"/>
              <a:t>中增加的部分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0507A6-C839-98F4-DFF9-EF5FB9596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458156"/>
          </a:xfrm>
        </p:spPr>
        <p:txBody>
          <a:bodyPr>
            <a:normAutofit/>
          </a:bodyPr>
          <a:lstStyle/>
          <a:p>
            <a:pPr lvl="0"/>
            <a:r>
              <a:rPr lang="zh-CN" altLang="zh-CN" b="1" dirty="0">
                <a:effectLst/>
              </a:rPr>
              <a:t>基于硬件流水指标的瓶颈假设</a:t>
            </a:r>
            <a:r>
              <a:rPr lang="zh-CN" altLang="en-US" b="1" dirty="0">
                <a:effectLst/>
              </a:rPr>
              <a:t>：</a:t>
            </a:r>
            <a:r>
              <a:rPr lang="zh-CN" altLang="zh-CN" dirty="0">
                <a:effectLst/>
              </a:rPr>
              <a:t> </a:t>
            </a:r>
            <a:endParaRPr lang="en-US" altLang="zh-CN" dirty="0">
              <a:effectLst/>
            </a:endParaRPr>
          </a:p>
          <a:p>
            <a:pPr lvl="1"/>
            <a:r>
              <a:rPr lang="zh-CN" altLang="zh-CN" dirty="0">
                <a:effectLst/>
              </a:rPr>
              <a:t>采集真机 PipeUtilization</a:t>
            </a:r>
            <a:endParaRPr lang="en-US" altLang="zh-CN" dirty="0">
              <a:effectLst/>
            </a:endParaRPr>
          </a:p>
          <a:p>
            <a:pPr lvl="1"/>
            <a:r>
              <a:rPr lang="zh-CN" altLang="zh-CN" dirty="0">
                <a:effectLst/>
              </a:rPr>
              <a:t>按</a:t>
            </a:r>
            <a:r>
              <a:rPr lang="zh-CN" altLang="zh-CN" b="1" dirty="0">
                <a:solidFill>
                  <a:srgbClr val="FF0000"/>
                </a:solidFill>
                <a:effectLst/>
              </a:rPr>
              <a:t>算子类型</a:t>
            </a:r>
            <a:r>
              <a:rPr lang="zh-CN" altLang="zh-CN" dirty="0">
                <a:effectLst/>
              </a:rPr>
              <a:t>与 MTE、Vector、Scalar 等</a:t>
            </a:r>
            <a:r>
              <a:rPr lang="zh-CN" altLang="zh-CN" b="1" dirty="0">
                <a:solidFill>
                  <a:srgbClr val="FF0000"/>
                </a:solidFill>
                <a:effectLst/>
              </a:rPr>
              <a:t>流水活跃比例</a:t>
            </a:r>
            <a:endParaRPr lang="en-US" altLang="zh-CN" b="1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zh-CN" dirty="0">
                <a:effectLst/>
              </a:rPr>
              <a:t>通过经验规则提出搬运、向量计算或控制开销相关假设</a:t>
            </a:r>
            <a:endParaRPr lang="en-US" altLang="zh-CN" dirty="0">
              <a:effectLst/>
            </a:endParaRPr>
          </a:p>
          <a:p>
            <a:pPr lvl="1"/>
            <a:r>
              <a:rPr lang="zh-CN" altLang="zh-CN" dirty="0">
                <a:effectLst/>
              </a:rPr>
              <a:t>同时向</a:t>
            </a:r>
            <a:r>
              <a:rPr lang="en-US" altLang="zh-CN" dirty="0">
                <a:effectLst/>
              </a:rPr>
              <a:t>agent</a:t>
            </a:r>
            <a:r>
              <a:rPr lang="zh-CN" altLang="zh-CN" dirty="0">
                <a:effectLst/>
              </a:rPr>
              <a:t>提供形状、数据类型、逻辑工作量和候选源码</a:t>
            </a:r>
            <a:endParaRPr lang="en-US" altLang="zh-CN" dirty="0">
              <a:effectLst/>
            </a:endParaRPr>
          </a:p>
          <a:p>
            <a:pPr lvl="1"/>
            <a:r>
              <a:rPr lang="zh-CN" altLang="zh-CN" dirty="0">
                <a:effectLst/>
              </a:rPr>
              <a:t>辅助形成具体修改建议</a:t>
            </a:r>
          </a:p>
          <a:p>
            <a:pPr lvl="0"/>
            <a:r>
              <a:rPr lang="zh-CN" altLang="zh-CN" b="1" dirty="0">
                <a:effectLst/>
              </a:rPr>
              <a:t>执行路径与优化知识引导的候选生成</a:t>
            </a:r>
            <a:endParaRPr lang="en-US" altLang="zh-CN" b="1" dirty="0">
              <a:effectLst/>
            </a:endParaRPr>
          </a:p>
          <a:p>
            <a:pPr lvl="1"/>
            <a:r>
              <a:rPr lang="zh-CN" altLang="zh-CN" dirty="0">
                <a:effectLst/>
              </a:rPr>
              <a:t>将此前比较候选与 PyTorch 实际设备任务得到的结论，以及有效改法、适用条件和失败约束固化为算子知识</a:t>
            </a:r>
            <a:endParaRPr lang="en-US" altLang="zh-CN" dirty="0">
              <a:effectLst/>
            </a:endParaRPr>
          </a:p>
          <a:p>
            <a:pPr lvl="1"/>
            <a:r>
              <a:rPr lang="zh-CN" altLang="zh-CN" dirty="0">
                <a:effectLst/>
              </a:rPr>
              <a:t>这些知识与本轮 profiling 证据共同指导模型生成候选</a:t>
            </a:r>
            <a:endParaRPr lang="en-US" altLang="zh-CN" b="1" dirty="0">
              <a:effectLst/>
            </a:endParaRPr>
          </a:p>
          <a:p>
            <a:pPr lvl="0"/>
            <a:r>
              <a:rPr lang="en-US" altLang="zh-CN" b="1" dirty="0"/>
              <a:t>TODO</a:t>
            </a:r>
            <a:r>
              <a:rPr lang="zh-CN" altLang="en-US" b="1" dirty="0"/>
              <a:t>：模拟器 </a:t>
            </a:r>
            <a:r>
              <a:rPr lang="en-US" altLang="zh-CN" b="1" dirty="0"/>
              <a:t>&amp; Component-based Roofline</a:t>
            </a:r>
            <a:endParaRPr lang="en-US" altLang="zh-CN" b="1" dirty="0">
              <a:effectLst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6018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D5159-980D-4DE5-07AB-BED684835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6519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请批评指正！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3497013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1091</Words>
  <Application>Microsoft Office PowerPoint</Application>
  <PresentationFormat>宽屏</PresentationFormat>
  <Paragraphs>95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Microsoft YaHei</vt:lpstr>
      <vt:lpstr>Arial</vt:lpstr>
      <vt:lpstr>Office 主题​​</vt:lpstr>
      <vt:lpstr>HG-KDA</vt:lpstr>
      <vt:lpstr>Excel 中已超过验收线的算子</vt:lpstr>
      <vt:lpstr>Excel 中低于 0.8× 的算子</vt:lpstr>
      <vt:lpstr>在workflow中增加的部分</vt:lpstr>
      <vt:lpstr>请批评指正！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hanle zhang</dc:creator>
  <cp:lastModifiedBy>hanle zhang</cp:lastModifiedBy>
  <cp:revision>51</cp:revision>
  <dcterms:created xsi:type="dcterms:W3CDTF">2026-10-14T13:30:59Z</dcterms:created>
  <dcterms:modified xsi:type="dcterms:W3CDTF">2026-10-15T03:21:56Z</dcterms:modified>
</cp:coreProperties>
</file>