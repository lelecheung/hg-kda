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84" r:id="rId12"/>
    <p:sldId id="266" r:id="rId13"/>
    <p:sldId id="267" r:id="rId14"/>
    <p:sldId id="268" r:id="rId15"/>
    <p:sldId id="281" r:id="rId16"/>
    <p:sldId id="282" r:id="rId17"/>
    <p:sldId id="283" r:id="rId18"/>
    <p:sldId id="269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92" autoAdjust="0"/>
    <p:restoredTop sz="93540" autoAdjust="0"/>
  </p:normalViewPr>
  <p:slideViewPr>
    <p:cSldViewPr snapToGrid="0" snapToObjects="1">
      <p:cViewPr varScale="1">
        <p:scale>
          <a:sx n="83" d="100"/>
          <a:sy n="83" d="100"/>
        </p:scale>
        <p:origin x="41" y="1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611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今天汇报的主题是 Hardware-Grounded Kernel Design Agent。我们关注的问题是，在现有 Kernel Agent 已经能够完成生成、编译和验证的基础上，怎样进一步引入体系结构知识和真实 Profiling，让 Agent 在不同芯片上更快找到有效的优化方向。</a:t>
            </a:r>
          </a:p>
          <a:p>
            <a:endParaRPr/>
          </a:p>
          <a:p>
            <a:r>
              <a:t>这项工作以 KernelGen 的多芯片开发能力为基础，重点介绍计算所体系结构组可以补充的硬件分析能力，以及我们目前围绕知识、Profiler、关键 Counter 和搜索控制所做的初步工作。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KernelGen 已经提供了比较完整的 Kernel 工程流程。输入算子定义后，系统可以生成 Triton Kernel，完成编译、正确性检查和性能测量，并通过多轮修改进行性能优化或失败修复。它也已经支持 NVIDIA、昇腾、海光、沐曦和摩尔线程等平台，并能进一步接入 FlagGems、vLLM 等软件栈。</a:t>
            </a:r>
          </a:p>
          <a:p>
            <a:endParaRPr/>
          </a:p>
          <a:p>
            <a:r>
              <a:t>因此，我们的出发点不是重新建设一套 Kernel 生成系统，而是在 KernelGen 已有流程上增加体系结构侧的能力：让 Agent 获得目标芯片的硬件知识，看到 Kernel 的真实运行行为，并利用这些信息控制后续优化。</a:t>
            </a:r>
          </a:p>
          <a:p>
            <a:endParaRPr/>
          </a:p>
          <a:p>
            <a:r>
              <a:t>下一页用公开评测结果说明为什么仅有生成、编译和运行环境还不够。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KernelGenBench 的公开结果显示，同一个 Agent 在不同芯片上的正确率和性能差异都很明显。一个有代表性的现象是，Claude Code 在 Platform A 上可以达到 89% 的正确率，但相对基线的几何平均加速比只有 0.18 倍。也就是说，代码大部分能够正确运行，但离高性能仍然很远。</a:t>
            </a:r>
          </a:p>
          <a:p>
            <a:endParaRPr/>
          </a:p>
          <a:p>
            <a:r>
              <a:t>另一方面，AutoKernel 的正确率可以从 NVIDIA 平台上的 87% 降到 Platform E 的 25%。公开报告中还出现编译超时、IR 不兼容、地址宽度、数学 API 和 BF16 支持差异等平台相关问题。</a:t>
            </a:r>
          </a:p>
          <a:p>
            <a:endParaRPr/>
          </a:p>
          <a:p>
            <a:r>
              <a:t>这些结果说明，多芯片环境解决了“能否生成、编译和运行”的一部分问题；要获得高性能，还需要理解芯片架构、编译器和运行时的具体行为。这里的关键结论是，正确运行只是起点，Agent 需要看到目标硬件上的实际执行证据。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从体系结构视角，我们希望补充三类能力。</a:t>
            </a:r>
          </a:p>
          <a:p>
            <a:endParaRPr/>
          </a:p>
          <a:p>
            <a:r>
              <a:t>第一类是静态硬件知识，包括计算单元、存储层次、ISA、矩阵扩展、编译器和运行时约束。它回答目标芯片具备什么能力、有哪些限制。</a:t>
            </a:r>
          </a:p>
          <a:p>
            <a:endParaRPr/>
          </a:p>
          <a:p>
            <a:r>
              <a:t>第二类是动态运行信息，包括带宽、缓存、资源利用率、流水线等待、Replay 和指令执行过程。它回答当前 Kernel 在这颗芯片上实际上怎样运行，时间和资源消耗在哪里。</a:t>
            </a:r>
          </a:p>
          <a:p>
            <a:endParaRPr/>
          </a:p>
          <a:p>
            <a:r>
              <a:t>第三类是优化经验，也就是把特定性能现象连接到分块、布局、融合、预取、并行和流水化等具体修改。</a:t>
            </a:r>
          </a:p>
          <a:p>
            <a:endParaRPr/>
          </a:p>
          <a:p>
            <a:r>
              <a:t>静态知识和动态信息共同支持性能判断，优化经验把判断转化为 Kernel 修改方向。下一页给出这三类能力与 KernelGen 的总体关系。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全局可以归纳为两个大模块。</a:t>
            </a:r>
          </a:p>
          <a:p>
            <a:endParaRPr/>
          </a:p>
          <a:p>
            <a:r>
              <a:t>上方的 KernelGen Agent 继续负责 Kernel 生成与改写、真实执行、正确性与性能验证，以及候选版本管理。下方是我们设计的 Hardware Intelligence Layer，负责理解目标硬件和 Kernel 的运行行为，并决定下一步怎样优化。</a:t>
            </a:r>
          </a:p>
          <a:p>
            <a:endParaRPr/>
          </a:p>
          <a:p>
            <a:r>
              <a:t>两者之间的主接口保持简洁。KernelGen 将当前 Kernel 交给硬件信息层；算子、Shape、dtype、目标平台和性能目标等上下文随任务提供，但不在总图中展开。硬件信息层返回 Kernel Action Plan，其中包含优先尝试的修改、策略数量、每个策略下的版本数量，以及继续还是结束搜索。</a:t>
            </a:r>
          </a:p>
          <a:p>
            <a:endParaRPr/>
          </a:p>
          <a:p>
            <a:r>
              <a:t>硬件信息层内部由 Controller 控制。Static Hardware KB 提供芯片能力与约束，Dynamic Profiler 采集真实运行信息；Evidence Fusion 统一组织不同来源和平台的证据；Bottleneck Diagnosis 形成性能判断；Action Library 把性能问题连接到候选修改。Top-K Counter Index 辅助 Profiler 选择指标，Evidence Memory 保存版本、证据、动作和结果。</a:t>
            </a:r>
          </a:p>
          <a:p>
            <a:endParaRPr/>
          </a:p>
          <a:p>
            <a:r>
              <a:t>下面按照这张总图，一个模块一个模块介绍机制和当前进展。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Static Hardware KB </a:t>
            </a:r>
            <a:r>
              <a:rPr dirty="0" err="1"/>
              <a:t>的目标是为当前任务形成可检索的硬件画像。查询条件可以包括平台、架构、型号、Kernel</a:t>
            </a:r>
            <a:r>
              <a:rPr dirty="0"/>
              <a:t> </a:t>
            </a:r>
            <a:r>
              <a:rPr dirty="0" err="1"/>
              <a:t>家族、Shape</a:t>
            </a:r>
            <a:r>
              <a:rPr dirty="0"/>
              <a:t> 和 </a:t>
            </a:r>
            <a:r>
              <a:rPr dirty="0" err="1"/>
              <a:t>dtype，返回内容包括计算与存储结构、ISA</a:t>
            </a:r>
            <a:r>
              <a:rPr dirty="0"/>
              <a:t> </a:t>
            </a:r>
            <a:r>
              <a:rPr dirty="0" err="1"/>
              <a:t>和矩阵扩展、编译器与运行时限制，以及可用的</a:t>
            </a:r>
            <a:r>
              <a:rPr dirty="0"/>
              <a:t> Profiling </a:t>
            </a:r>
            <a:r>
              <a:rPr dirty="0" err="1"/>
              <a:t>工具和指标说明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知识并不只是一棵固定目录树。同一条知识可以与多个平台、算子和适用条件关联。例如，访存合并是通用概念，但不同平台上的指令、存储层次和编译约束不同，需要同时保留公共知识和平台细节。</a:t>
            </a:r>
          </a:p>
          <a:p>
            <a:endParaRPr dirty="0"/>
          </a:p>
          <a:p>
            <a:r>
              <a:rPr dirty="0" err="1"/>
              <a:t>这里要区分</a:t>
            </a:r>
            <a:r>
              <a:rPr dirty="0"/>
              <a:t> Static Hardware KB </a:t>
            </a:r>
            <a:r>
              <a:rPr dirty="0" err="1"/>
              <a:t>和后面的</a:t>
            </a:r>
            <a:r>
              <a:rPr dirty="0"/>
              <a:t> Action </a:t>
            </a:r>
            <a:r>
              <a:rPr dirty="0" err="1"/>
              <a:t>Library。前者主要回答平台有什么能力和限制；后者回答遇到某类性能问题时可以尝试什么修改。它们物理上可以共用</a:t>
            </a:r>
            <a:r>
              <a:rPr dirty="0"/>
              <a:t> </a:t>
            </a:r>
            <a:r>
              <a:rPr dirty="0" err="1"/>
              <a:t>Wiki，但系统逻辑不同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当前已经完成多平台</a:t>
            </a:r>
            <a:r>
              <a:rPr dirty="0"/>
              <a:t> Kernel Wiki </a:t>
            </a:r>
            <a:r>
              <a:rPr dirty="0" err="1"/>
              <a:t>的结构设计和检索原型，也整理了部分架构细节、项目证据和优化知识。现有内容以</a:t>
            </a:r>
            <a:r>
              <a:rPr dirty="0"/>
              <a:t> B200 </a:t>
            </a:r>
            <a:r>
              <a:rPr dirty="0" err="1"/>
              <a:t>为主，下一步需要扩充昇腾、海光等平台，并增加知识来源、版本和适用范围管理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Controller </a:t>
            </a:r>
            <a:r>
              <a:rPr dirty="0" err="1"/>
              <a:t>同时控制两个维度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第一个维度是证据预算。它决定从</a:t>
            </a:r>
            <a:r>
              <a:rPr dirty="0"/>
              <a:t> M1 到 M6 中选择哪些信息模块，在模块中采集哪些具体指标，以及使用什么工具、Shape、重复次数和测量条件。M1 到 M6 </a:t>
            </a:r>
            <a:r>
              <a:rPr dirty="0" err="1"/>
              <a:t>表示不同信息主题，并不是从简单到困难的固定六层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第二个维度是搜索预算。它决定生成多少种优化策略，每种策略产生多少个</a:t>
            </a:r>
            <a:r>
              <a:rPr dirty="0"/>
              <a:t> Kernel </a:t>
            </a:r>
            <a:r>
              <a:rPr dirty="0" err="1"/>
              <a:t>版本，以及哪些分支需要保留、回退或切换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这两类预算对应三种工作模式。Agile</a:t>
            </a:r>
            <a:r>
              <a:rPr dirty="0"/>
              <a:t> </a:t>
            </a:r>
            <a:r>
              <a:rPr dirty="0" err="1"/>
              <a:t>使用少量高价值证据和较小分支，目标是尽快达到可接受性能；Peak</a:t>
            </a:r>
            <a:r>
              <a:rPr dirty="0"/>
              <a:t> </a:t>
            </a:r>
            <a:r>
              <a:rPr dirty="0" err="1"/>
              <a:t>使用更完整的</a:t>
            </a:r>
            <a:r>
              <a:rPr dirty="0"/>
              <a:t> </a:t>
            </a:r>
            <a:r>
              <a:rPr dirty="0" err="1"/>
              <a:t>Counter、IR</a:t>
            </a:r>
            <a:r>
              <a:rPr dirty="0"/>
              <a:t> </a:t>
            </a:r>
            <a:r>
              <a:rPr dirty="0" err="1"/>
              <a:t>和指令信息，并保留更多候选，目标是探索性能上限；Adaptive</a:t>
            </a:r>
            <a:r>
              <a:rPr dirty="0"/>
              <a:t> </a:t>
            </a:r>
            <a:r>
              <a:rPr dirty="0" err="1"/>
              <a:t>从较小预算开始，根据诊断可信度和性能潜力动态扩展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在路径选择方面，我们已经实现一个对</a:t>
            </a:r>
            <a:r>
              <a:rPr dirty="0"/>
              <a:t> M1～M6 的 720 种顺序进行评分的脚本。在优化方向方面，已有证据强度、置信度、预期影响、安全性和可验证性五维评分原型。H、R1 和 R2 </a:t>
            </a:r>
            <a:r>
              <a:rPr dirty="0" err="1"/>
              <a:t>实验中，每层保留</a:t>
            </a:r>
            <a:r>
              <a:rPr dirty="0"/>
              <a:t> 5 </a:t>
            </a:r>
            <a:r>
              <a:rPr dirty="0" err="1"/>
              <a:t>个候选时，最终加速比分别为</a:t>
            </a:r>
            <a:r>
              <a:rPr dirty="0"/>
              <a:t> 3.19、3.36 和 3.28，差距只有 0.17。这初步说明搜索预算较小时信息顺序更重要，预算增大后候选覆盖可以减弱路径差异。</a:t>
            </a:r>
          </a:p>
          <a:p>
            <a:endParaRPr dirty="0"/>
          </a:p>
          <a:p>
            <a:r>
              <a:rPr dirty="0" err="1"/>
              <a:t>目前路径评分与分支评分仍是独立原型，还没有集成为端到端</a:t>
            </a:r>
            <a:r>
              <a:rPr dirty="0"/>
              <a:t> Controller。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Dynamic Profiler </a:t>
            </a:r>
            <a:r>
              <a:rPr dirty="0" err="1"/>
              <a:t>是动态证据的在线采集入口。Controller</a:t>
            </a:r>
            <a:r>
              <a:rPr dirty="0"/>
              <a:t> </a:t>
            </a:r>
            <a:r>
              <a:rPr dirty="0" err="1"/>
              <a:t>首先生成</a:t>
            </a:r>
            <a:r>
              <a:rPr dirty="0"/>
              <a:t> Evidence </a:t>
            </a:r>
            <a:r>
              <a:rPr dirty="0" err="1"/>
              <a:t>Plan，其中明确本轮的信息模块、具体指标、数据来源、工具和测量条件。Profiler</a:t>
            </a:r>
            <a:r>
              <a:rPr dirty="0"/>
              <a:t> </a:t>
            </a:r>
            <a:r>
              <a:rPr dirty="0" err="1"/>
              <a:t>按计划调用工具，并返回原始指标、派生指标、工具来源和测量质量，再交给</a:t>
            </a:r>
            <a:r>
              <a:rPr dirty="0"/>
              <a:t> Evidence Fusion。</a:t>
            </a:r>
          </a:p>
          <a:p>
            <a:endParaRPr dirty="0"/>
          </a:p>
          <a:p>
            <a:r>
              <a:rPr dirty="0"/>
              <a:t>不同信息模块的数据来源并不相同。M1 </a:t>
            </a:r>
            <a:r>
              <a:rPr dirty="0" err="1"/>
              <a:t>主要来自算子分析、Shape、数据流和</a:t>
            </a:r>
            <a:r>
              <a:rPr dirty="0"/>
              <a:t> Roofline；M2 </a:t>
            </a:r>
            <a:r>
              <a:rPr dirty="0" err="1"/>
              <a:t>主要来自</a:t>
            </a:r>
            <a:r>
              <a:rPr dirty="0"/>
              <a:t> Static Hardware KB；M3 到 M5 更多依赖运行时间、资源利用率和平台性能计数器；M6 </a:t>
            </a:r>
            <a:r>
              <a:rPr dirty="0" err="1"/>
              <a:t>来自源码、IR、机器码和编译工具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对于</a:t>
            </a:r>
            <a:r>
              <a:rPr dirty="0"/>
              <a:t> M3 到 M5，Profiler </a:t>
            </a:r>
            <a:r>
              <a:rPr dirty="0" err="1"/>
              <a:t>可以查询</a:t>
            </a:r>
            <a:r>
              <a:rPr dirty="0"/>
              <a:t> Top-K Counter </a:t>
            </a:r>
            <a:r>
              <a:rPr dirty="0" err="1"/>
              <a:t>Index，优先采集当前平台、Kernel</a:t>
            </a:r>
            <a:r>
              <a:rPr dirty="0"/>
              <a:t> </a:t>
            </a:r>
            <a:r>
              <a:rPr dirty="0" err="1"/>
              <a:t>家族和</a:t>
            </a:r>
            <a:r>
              <a:rPr dirty="0"/>
              <a:t> Shape </a:t>
            </a:r>
            <a:r>
              <a:rPr dirty="0" err="1"/>
              <a:t>范围内最相关的计数器。证据不足时，Controller</a:t>
            </a:r>
            <a:r>
              <a:rPr dirty="0"/>
              <a:t> </a:t>
            </a:r>
            <a:r>
              <a:rPr dirty="0" err="1"/>
              <a:t>再扩大指标集合或选择其他模块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当前已经实现</a:t>
            </a:r>
            <a:r>
              <a:rPr dirty="0"/>
              <a:t> Roofline </a:t>
            </a:r>
            <a:r>
              <a:rPr dirty="0" err="1"/>
              <a:t>工具，可以获取理论上界、通过</a:t>
            </a:r>
            <a:r>
              <a:rPr dirty="0"/>
              <a:t> Benchmark </a:t>
            </a:r>
            <a:r>
              <a:rPr dirty="0" err="1"/>
              <a:t>测量多层次实际上界，并导入</a:t>
            </a:r>
            <a:r>
              <a:rPr dirty="0"/>
              <a:t> Kernel </a:t>
            </a:r>
            <a:r>
              <a:rPr dirty="0" err="1"/>
              <a:t>测量点。该工具可以命令行调用，为</a:t>
            </a:r>
            <a:r>
              <a:rPr dirty="0"/>
              <a:t> Agent </a:t>
            </a:r>
            <a:r>
              <a:rPr dirty="0" err="1"/>
              <a:t>提供结构化结果。Cache、Stall、指令和流水线信息则需要接入具体平台工具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XSAI </a:t>
            </a:r>
            <a:r>
              <a:rPr dirty="0" err="1"/>
              <a:t>是香山体系结构的矩阵扩展版本，也是我们面向白盒硬件的</a:t>
            </a:r>
            <a:r>
              <a:rPr dirty="0"/>
              <a:t> Profiling </a:t>
            </a:r>
            <a:r>
              <a:rPr dirty="0" err="1"/>
              <a:t>环境。它是</a:t>
            </a:r>
            <a:r>
              <a:rPr dirty="0"/>
              <a:t> Dynamic Profiler </a:t>
            </a:r>
            <a:r>
              <a:rPr dirty="0" err="1"/>
              <a:t>的一个具体数据源，不是另一套独立系统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在处理器设计领域，这是一个非常具体的术语，指的是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“Load Replay Queue”（加载重放队列）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0"/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：这是CPU（中央处理器）内部一个用于临时存储“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需要重新执行的加载指令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”的硬件队列。</a:t>
            </a:r>
          </a:p>
          <a:p>
            <a:pPr lvl="0"/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为什么需要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：当CPU试图从内存中读取数据（执行Load指令）时，可能会因为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缓存未命中(Cache Miss)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地址冲突(Bank Conflict)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TLB未命中(TLB Miss)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等原因失败。这时，失败的指令会被放入这个“重放队列”。</a:t>
            </a:r>
          </a:p>
          <a:p>
            <a:pPr lvl="0"/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怎么工作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：当导致失败的条件（如数据从内存被加载到缓存）得到满足后，队列会“唤醒”这些指令，并重新调度它们到执行单元去执行。</a:t>
            </a:r>
          </a:p>
          <a:p>
            <a:endParaRPr dirty="0"/>
          </a:p>
          <a:p>
            <a:endParaRPr dirty="0"/>
          </a:p>
          <a:p>
            <a:r>
              <a:rPr dirty="0" err="1"/>
              <a:t>相比商用芯片只能暴露部分计数器，XSAI</a:t>
            </a:r>
            <a:r>
              <a:rPr dirty="0"/>
              <a:t> </a:t>
            </a:r>
            <a:r>
              <a:rPr dirty="0" err="1"/>
              <a:t>可以通过</a:t>
            </a:r>
            <a:r>
              <a:rPr dirty="0"/>
              <a:t> RTL emu </a:t>
            </a:r>
            <a:r>
              <a:rPr dirty="0" err="1"/>
              <a:t>获取完整</a:t>
            </a:r>
            <a:r>
              <a:rPr dirty="0"/>
              <a:t> RTL </a:t>
            </a:r>
            <a:r>
              <a:rPr dirty="0" err="1"/>
              <a:t>性能计数器，通过</a:t>
            </a:r>
            <a:r>
              <a:rPr dirty="0"/>
              <a:t> </a:t>
            </a:r>
            <a:r>
              <a:rPr dirty="0" err="1"/>
              <a:t>ChiselDB</a:t>
            </a:r>
            <a:r>
              <a:rPr dirty="0"/>
              <a:t> </a:t>
            </a:r>
            <a:r>
              <a:rPr dirty="0" err="1"/>
              <a:t>记录动态指令和</a:t>
            </a:r>
            <a:r>
              <a:rPr dirty="0"/>
              <a:t> </a:t>
            </a:r>
            <a:r>
              <a:rPr dirty="0" err="1"/>
              <a:t>uop，还能得到</a:t>
            </a:r>
            <a:r>
              <a:rPr dirty="0"/>
              <a:t> </a:t>
            </a:r>
            <a:r>
              <a:rPr dirty="0" err="1"/>
              <a:t>Fetch、Decode、Rename、Issue、执行、写回和提交等流水级时间戳。访存方面可以观察</a:t>
            </a:r>
            <a:r>
              <a:rPr dirty="0"/>
              <a:t> Load </a:t>
            </a:r>
            <a:r>
              <a:rPr dirty="0" err="1"/>
              <a:t>replay、地址信息和</a:t>
            </a:r>
            <a:r>
              <a:rPr dirty="0"/>
              <a:t> DRAMSim3 </a:t>
            </a:r>
            <a:r>
              <a:rPr dirty="0" err="1"/>
              <a:t>行为，必要时还可以进入</a:t>
            </a:r>
            <a:r>
              <a:rPr dirty="0"/>
              <a:t> FST </a:t>
            </a:r>
            <a:r>
              <a:rPr dirty="0" err="1"/>
              <a:t>波形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当前已经打通从</a:t>
            </a:r>
            <a:r>
              <a:rPr dirty="0"/>
              <a:t> Kernel </a:t>
            </a:r>
            <a:r>
              <a:rPr dirty="0" err="1"/>
              <a:t>变体、固定工具链编译、emu</a:t>
            </a:r>
            <a:r>
              <a:rPr dirty="0"/>
              <a:t> </a:t>
            </a:r>
            <a:r>
              <a:rPr dirty="0" err="1"/>
              <a:t>运行到</a:t>
            </a:r>
            <a:r>
              <a:rPr dirty="0"/>
              <a:t> Counter </a:t>
            </a:r>
            <a:r>
              <a:rPr dirty="0" err="1"/>
              <a:t>和流水数据采集的链路，并用它构造了矩阵算子数据集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XSAI </a:t>
            </a:r>
            <a:r>
              <a:rPr dirty="0" err="1"/>
              <a:t>在系统中有两个作用。第一，作为深层白盒证据来源，帮助验证性能判断是否符合硬件机理；第二，在离线阶段提供完整高维</a:t>
            </a:r>
            <a:r>
              <a:rPr dirty="0"/>
              <a:t> Counter </a:t>
            </a:r>
            <a:r>
              <a:rPr dirty="0" err="1"/>
              <a:t>数据，用于研究哪些指标值得在线优先采集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目前实验主要集中在单一矩阵算子族，下一步需要增加算子类型，并区分</a:t>
            </a:r>
            <a:r>
              <a:rPr dirty="0"/>
              <a:t> XSAI </a:t>
            </a:r>
            <a:r>
              <a:rPr dirty="0" err="1"/>
              <a:t>特有指标和可以迁移到其他平台的公共证据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真实平台可能暴露数百个性能计数器。如果每一轮全部采集，不仅开销较大，也会给 Agent 输入很多冗余信息。因此我们设计 Top-K Counter Index，提前回答某个平台、某类 Kernel 和某个 Shape 范围内，哪些 Counter 与性能关系最大。</a:t>
            </a:r>
          </a:p>
          <a:p>
            <a:endParaRPr/>
          </a:p>
          <a:p>
            <a:r>
              <a:t>索引的构建发生在离线阶段。首先生成同一算子的多个 Kernel 变体，采集完整 Counter，并对机器码去重。然后构造成功率、命中率、原因占比和平均延迟等可比较指标，经过相关性去冗余与 mRMR 初筛，再使用 XGBoost 学习 Counter 与性能之间的非线性关系，通过 TreeSHAP 计算预测贡献。最后使用五折 OOF 和 Bootstrap 检查泛化与稳定性，形成 Top-K Counter Profile。</a:t>
            </a:r>
          </a:p>
          <a:p>
            <a:endParaRPr/>
          </a:p>
          <a:p>
            <a:r>
              <a:t>在线阶段不重新运行 XGBoost 和 SHAP。Profiler 只根据平台、Kernel 家族和 Shape/dtype 范围查询索引，并直接采集对应 Counter。</a:t>
            </a:r>
          </a:p>
          <a:p>
            <a:endParaRPr/>
          </a:p>
          <a:p>
            <a:r>
              <a:t>当前在 XSAI 矩阵算子族上得到 128 个唯一机器码样本、275 个候选构造指标，90% 累计贡献对应 Top-K 等于 14。OOF R² 为 0.698，Spearman 为 0.840，说明模型对性能排序有一定能力。</a:t>
            </a:r>
          </a:p>
          <a:p>
            <a:endParaRPr/>
          </a:p>
          <a:p>
            <a:r>
              <a:t>需要主动说明三个边界：当前只有单一矩阵算子族，预测目标主要是 IPC，SHAP 表示模型预测贡献而不是因果重要性。后续需要验证 Kernel latency、跨 Shape、跨算子泛化和索引失配更新。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B540-028E-FC1F-C542-71674ABD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B1891-C6A2-2144-A17D-61C39EF5A6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5C65E-9582-3FEC-1D29-AE65F460A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真实平台可能暴露数百个性能计数器。如果每一轮全部采集，不仅开销较大，也会给 Agent 输入很多冗余信息。因此我们设计 Top-K Counter Index，提前回答某个平台、某类 Kernel 和某个 Shape 范围内，哪些 Counter 与性能关系最大。</a:t>
            </a:r>
          </a:p>
          <a:p>
            <a:endParaRPr/>
          </a:p>
          <a:p>
            <a:r>
              <a:t>索引的构建发生在离线阶段。首先生成同一算子的多个 Kernel 变体，采集完整 Counter，并对机器码去重。然后构造成功率、命中率、原因占比和平均延迟等可比较指标，经过相关性去冗余与 mRMR 初筛，再使用 XGBoost 学习 Counter 与性能之间的非线性关系，通过 TreeSHAP 计算预测贡献。最后使用五折 OOF 和 Bootstrap 检查泛化与稳定性，形成 Top-K Counter Profile。</a:t>
            </a:r>
          </a:p>
          <a:p>
            <a:endParaRPr/>
          </a:p>
          <a:p>
            <a:r>
              <a:t>在线阶段不重新运行 XGBoost 和 SHAP。Profiler 只根据平台、Kernel 家族和 Shape/dtype 范围查询索引，并直接采集对应 Counter。</a:t>
            </a:r>
          </a:p>
          <a:p>
            <a:endParaRPr/>
          </a:p>
          <a:p>
            <a:r>
              <a:t>当前在 XSAI 矩阵算子族上得到 128 个唯一机器码样本、275 个候选构造指标，90% 累计贡献对应 Top-K 等于 14。OOF R² 为 0.698，Spearman 为 0.840，说明模型对性能排序有一定能力。</a:t>
            </a:r>
          </a:p>
          <a:p>
            <a:endParaRPr/>
          </a:p>
          <a:p>
            <a:r>
              <a:t>需要主动说明三个边界：当前只有单一矩阵算子族，预测目标主要是 IPC，SHAP 表示模型预测贡献而不是因果重要性。后续需要验证 Kernel latency、跨 Shape、跨算子泛化和索引失配更新。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9B13-6BC1-A448-D87B-A333B9B85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3245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Evidence Fusion </a:t>
            </a:r>
            <a:r>
              <a:rPr dirty="0" err="1"/>
              <a:t>解决的是跨平台信息表达问题。不同平台的指标名称、单位和可见粒度不同，直接把原始</a:t>
            </a:r>
            <a:r>
              <a:rPr dirty="0"/>
              <a:t> Counter </a:t>
            </a:r>
            <a:r>
              <a:rPr dirty="0" err="1"/>
              <a:t>交给</a:t>
            </a:r>
            <a:r>
              <a:rPr dirty="0"/>
              <a:t> Diagnosis </a:t>
            </a:r>
            <a:r>
              <a:rPr dirty="0" err="1"/>
              <a:t>很难形成统一方法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这一模块把平台相关的静态知识和动态指标映射到公共证据类别，同时保留原始来源、适用范围和可信度。例如，XSAI</a:t>
            </a:r>
            <a:r>
              <a:rPr dirty="0"/>
              <a:t> 的 Load replay 与 Issue-to-Commit </a:t>
            </a:r>
            <a:r>
              <a:rPr dirty="0" err="1"/>
              <a:t>latency，NVIDIA</a:t>
            </a:r>
            <a:r>
              <a:rPr dirty="0"/>
              <a:t> 的 Memory Dependency Stall 和 DRAM </a:t>
            </a:r>
            <a:r>
              <a:rPr dirty="0" err="1"/>
              <a:t>throughput，以及昇腾的数据搬运等待，可以统一组织为“数据供给相关证据</a:t>
            </a:r>
            <a:r>
              <a:rPr dirty="0"/>
              <a:t>”。</a:t>
            </a:r>
            <a:endParaRPr lang="en-US" dirty="0"/>
          </a:p>
          <a:p>
            <a:endParaRPr lang="en-US" dirty="0"/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“MTE Wait”指的是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存储转换单元（MTE, Memory Transfer Engine）在搬运数据时，因等待某些条件满足而处于阻塞（Stall）状态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dirty="0"/>
          </a:p>
          <a:p>
            <a:endParaRPr dirty="0"/>
          </a:p>
          <a:p>
            <a:endParaRPr dirty="0"/>
          </a:p>
          <a:p>
            <a:r>
              <a:rPr dirty="0" err="1"/>
              <a:t>这里需要严格区分证据和结论</a:t>
            </a:r>
            <a:r>
              <a:rPr dirty="0"/>
              <a:t>。“</a:t>
            </a:r>
            <a:r>
              <a:rPr dirty="0" err="1"/>
              <a:t>数据供给相关证据”只是事实分类，不能直接写成“当前</a:t>
            </a:r>
            <a:r>
              <a:rPr dirty="0"/>
              <a:t> Kernel </a:t>
            </a:r>
            <a:r>
              <a:rPr dirty="0" err="1"/>
              <a:t>数据供给不足</a:t>
            </a:r>
            <a:r>
              <a:rPr dirty="0"/>
              <a:t>”。</a:t>
            </a:r>
            <a:r>
              <a:rPr dirty="0" err="1"/>
              <a:t>后者需要</a:t>
            </a:r>
            <a:r>
              <a:rPr dirty="0"/>
              <a:t> Diagnosis </a:t>
            </a:r>
            <a:r>
              <a:rPr dirty="0" err="1"/>
              <a:t>综合多条证据和反证后判断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我们当前使用</a:t>
            </a:r>
            <a:r>
              <a:rPr dirty="0"/>
              <a:t> M1～M6 </a:t>
            </a:r>
            <a:r>
              <a:rPr dirty="0" err="1"/>
              <a:t>组织公共证据，分别覆盖规模与理论模型、架构资源、总体性能、内存系统、调度执行和源码指令。它们是信息主题，不表示固定的执行顺序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目前已经完成信息分类和结构化输出设计，Roofline</a:t>
            </a:r>
            <a:r>
              <a:rPr dirty="0"/>
              <a:t> 与 XSAI </a:t>
            </a:r>
            <a:r>
              <a:rPr dirty="0" err="1"/>
              <a:t>能提供部分结构化数据。NVIDIA、昇腾和海光的系统性映射，以及缺失指标和证据冲突处理仍待完成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Evidence Fusion </a:t>
            </a:r>
            <a:r>
              <a:rPr dirty="0" err="1"/>
              <a:t>提供整理后的事实，Bottleneck</a:t>
            </a:r>
            <a:r>
              <a:rPr dirty="0"/>
              <a:t> Diagnosis </a:t>
            </a:r>
            <a:r>
              <a:rPr dirty="0" err="1"/>
              <a:t>负责形成性能判断。它首先提出瓶颈假设，再检查当前有哪些支持证据和反证，最后输出性能问题、可信度和仍需补充的信息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如果证据不足，Diagnosis</a:t>
            </a:r>
            <a:r>
              <a:rPr dirty="0"/>
              <a:t> </a:t>
            </a:r>
            <a:r>
              <a:rPr dirty="0" err="1"/>
              <a:t>不直接给出确定结论，而是把待补信息返回</a:t>
            </a:r>
            <a:r>
              <a:rPr dirty="0"/>
              <a:t> </a:t>
            </a:r>
            <a:r>
              <a:rPr dirty="0" err="1"/>
              <a:t>Controller。Controller</a:t>
            </a:r>
            <a:r>
              <a:rPr dirty="0"/>
              <a:t> </a:t>
            </a:r>
            <a:r>
              <a:rPr dirty="0" err="1"/>
              <a:t>可以扩大当前模块的指标集合，也可以增加其他信息模块。如果证据相对充分，Diagnosis</a:t>
            </a:r>
            <a:r>
              <a:rPr dirty="0"/>
              <a:t> </a:t>
            </a:r>
            <a:r>
              <a:rPr dirty="0" err="1"/>
              <a:t>才将性能问题交给</a:t>
            </a:r>
            <a:r>
              <a:rPr dirty="0"/>
              <a:t> Action Library。</a:t>
            </a:r>
          </a:p>
          <a:p>
            <a:endParaRPr dirty="0"/>
          </a:p>
          <a:p>
            <a:r>
              <a:rPr dirty="0" err="1"/>
              <a:t>这里吸收了分层证据诊断方法的思想：先使用已经获得的信息，证据不足时再补充源码、Profiler、IR</a:t>
            </a:r>
            <a:r>
              <a:rPr dirty="0"/>
              <a:t> </a:t>
            </a:r>
            <a:r>
              <a:rPr dirty="0" err="1"/>
              <a:t>或编译器层面的内容。但我们不固定使用</a:t>
            </a:r>
            <a:r>
              <a:rPr dirty="0"/>
              <a:t> L1 到 L4，也不固定按 M1 到 M6执行；具体补充什么由 Controller </a:t>
            </a:r>
            <a:r>
              <a:rPr dirty="0" err="1"/>
              <a:t>决定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当前已经完成分层证据方法复现和诊断工作台原型，可以展示证据、反证、可能错误和待补信息，也形成了结构化诊断输出。华为论文在这里作为方法启发简要提及即可，不需要展开复现过程。</a:t>
            </a:r>
          </a:p>
          <a:p>
            <a:endParaRPr dirty="0"/>
          </a:p>
          <a:p>
            <a:r>
              <a:rPr dirty="0" err="1"/>
              <a:t>这一模块目前缺少跨算子、跨平台诊断准确率评测。后续需要验证诊断可信度是否能够预测实际优化成功率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Diagnosis 给出性能问题后，Action Library 需要将它连接到具体 Kernel 修改。每条经验应至少记录适用平台、Kernel 家族、Shape 和 dtype 条件，候选修改、预期影响、风险、验证方法以及真实执行结果。</a:t>
            </a:r>
          </a:p>
          <a:p>
            <a:endParaRPr/>
          </a:p>
          <a:p>
            <a:r>
              <a:t>候选动作可以包括调整分块、改变线程与数据对应关系、融合原本分开的计算、重新组织数据加载和归约、增加预取或双缓冲、调整并行方式和指令路径。</a:t>
            </a:r>
          </a:p>
          <a:p>
            <a:endParaRPr/>
          </a:p>
          <a:p>
            <a:r>
              <a:t>这里过去使用了“结构级改写”这个词，更直接的说法是：Agent 不只调 BLOCK_SIZE 和线程数，还会改变 Kernel 的计算和数据组织方式。</a:t>
            </a:r>
          </a:p>
          <a:p>
            <a:endParaRPr/>
          </a:p>
          <a:p>
            <a:r>
              <a:t>GroupNorm + SiLU 是一个初步例子。当信息提示中间结果读写和访问组织可能存在问题时，Agent 开始尝试融合计算、调整布局和改变并行组织，而不再只进行参数微调。修改仍需要 KernelGen 进行正确性和性能验证，最终记录适用条件和结果。</a:t>
            </a:r>
          </a:p>
          <a:p>
            <a:endParaRPr/>
          </a:p>
          <a:p>
            <a:r>
              <a:t>当前 Action Library 主要由 Kernel Wiki 中的人工知识和已有案例素材组成，也积累了一些成功、失败和“不值得继续”的记录。统一的“问题—条件—动作—结果”结构与自动回流尚未实现，这是目前相对薄弱、需要继续补强的模块。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CABA-1ACF-BA4D-F05E-5559EC93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B7CCA-BA6E-1B55-2040-463E4FA28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E0542-C106-4409-72A4-C7D06BA49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Diagnosis 给出性能问题后，Action Library 需要将它连接到具体 Kernel 修改。每条经验应至少记录适用平台、Kernel 家族、Shape 和 dtype 条件，候选修改、预期影响、风险、验证方法以及真实执行结果。</a:t>
            </a:r>
          </a:p>
          <a:p>
            <a:endParaRPr/>
          </a:p>
          <a:p>
            <a:r>
              <a:t>候选动作可以包括调整分块、改变线程与数据对应关系、融合原本分开的计算、重新组织数据加载和归约、增加预取或双缓冲、调整并行方式和指令路径。</a:t>
            </a:r>
          </a:p>
          <a:p>
            <a:endParaRPr/>
          </a:p>
          <a:p>
            <a:r>
              <a:t>这里过去使用了“结构级改写”这个词，更直接的说法是：Agent 不只调 BLOCK_SIZE 和线程数，还会改变 Kernel 的计算和数据组织方式。</a:t>
            </a:r>
          </a:p>
          <a:p>
            <a:endParaRPr/>
          </a:p>
          <a:p>
            <a:r>
              <a:t>GroupNorm + SiLU 是一个初步例子。当信息提示中间结果读写和访问组织可能存在问题时，Agent 开始尝试融合计算、调整布局和改变并行组织，而不再只进行参数微调。修改仍需要 KernelGen 进行正确性和性能验证，最终记录适用条件和结果。</a:t>
            </a:r>
          </a:p>
          <a:p>
            <a:endParaRPr/>
          </a:p>
          <a:p>
            <a:r>
              <a:t>当前 Action Library 主要由 Kernel Wiki 中的人工知识和已有案例素材组成，也积累了一些成功、失败和“不值得继续”的记录。统一的“问题—条件—动作—结果”结构与自动回流尚未实现，这是目前相对薄弱、需要继续补强的模块。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C935A-0985-55A0-550B-6DC1197B3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5630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9BB9-295E-C537-DD3E-245A2D65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757F9-21BA-7103-907C-16B286519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CEE5B-F2CF-E40F-5797-78F2DFD0A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Diagnosis 给出性能问题后，Action Library 需要将它连接到具体 Kernel 修改。每条经验应至少记录适用平台、Kernel 家族、Shape 和 dtype 条件，候选修改、预期影响、风险、验证方法以及真实执行结果。</a:t>
            </a:r>
          </a:p>
          <a:p>
            <a:endParaRPr/>
          </a:p>
          <a:p>
            <a:r>
              <a:t>候选动作可以包括调整分块、改变线程与数据对应关系、融合原本分开的计算、重新组织数据加载和归约、增加预取或双缓冲、调整并行方式和指令路径。</a:t>
            </a:r>
          </a:p>
          <a:p>
            <a:endParaRPr/>
          </a:p>
          <a:p>
            <a:r>
              <a:t>这里过去使用了“结构级改写”这个词，更直接的说法是：Agent 不只调 BLOCK_SIZE 和线程数，还会改变 Kernel 的计算和数据组织方式。</a:t>
            </a:r>
          </a:p>
          <a:p>
            <a:endParaRPr/>
          </a:p>
          <a:p>
            <a:r>
              <a:t>GroupNorm + SiLU 是一个初步例子。当信息提示中间结果读写和访问组织可能存在问题时，Agent 开始尝试融合计算、调整布局和改变并行组织，而不再只进行参数微调。修改仍需要 KernelGen 进行正确性和性能验证，最终记录适用条件和结果。</a:t>
            </a:r>
          </a:p>
          <a:p>
            <a:endParaRPr/>
          </a:p>
          <a:p>
            <a:r>
              <a:t>当前 Action Library 主要由 Kernel Wiki 中的人工知识和已有案例素材组成，也积累了一些成功、失败和“不值得继续”的记录。统一的“问题—条件—动作—结果”结构与自动回流尚未实现，这是目前相对薄弱、需要继续补强的模块。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EC43-EB2E-8DC1-BB1C-A3FB9BFA2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09971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2E1F-0FBE-47D8-CCBE-BA84AAFF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979BC-00CC-A40D-AFE0-7FD9C75B1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86B48-614B-CAEF-79AF-BA977E143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Diagnosis 给出性能问题后，Action Library 需要将它连接到具体 Kernel 修改。每条经验应至少记录适用平台、Kernel 家族、Shape 和 dtype 条件，候选修改、预期影响、风险、验证方法以及真实执行结果。</a:t>
            </a:r>
          </a:p>
          <a:p>
            <a:endParaRPr/>
          </a:p>
          <a:p>
            <a:r>
              <a:t>候选动作可以包括调整分块、改变线程与数据对应关系、融合原本分开的计算、重新组织数据加载和归约、增加预取或双缓冲、调整并行方式和指令路径。</a:t>
            </a:r>
          </a:p>
          <a:p>
            <a:endParaRPr/>
          </a:p>
          <a:p>
            <a:r>
              <a:t>这里过去使用了“结构级改写”这个词，更直接的说法是：Agent 不只调 BLOCK_SIZE 和线程数，还会改变 Kernel 的计算和数据组织方式。</a:t>
            </a:r>
          </a:p>
          <a:p>
            <a:endParaRPr/>
          </a:p>
          <a:p>
            <a:r>
              <a:t>GroupNorm + SiLU 是一个初步例子。当信息提示中间结果读写和访问组织可能存在问题时，Agent 开始尝试融合计算、调整布局和改变并行组织，而不再只进行参数微调。修改仍需要 KernelGen 进行正确性和性能验证，最终记录适用条件和结果。</a:t>
            </a:r>
          </a:p>
          <a:p>
            <a:endParaRPr/>
          </a:p>
          <a:p>
            <a:r>
              <a:t>当前 Action Library 主要由 Kernel Wiki 中的人工知识和已有案例素材组成，也积累了一些成功、失败和“不值得继续”的记录。统一的“问题—条件—动作—结果”结构与自动回流尚未实现，这是目前相对薄弱、需要继续补强的模块。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E3CAD-7ABE-38B6-26D1-91FC001D4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41217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Evidence Memory </a:t>
            </a:r>
            <a:r>
              <a:rPr dirty="0" err="1"/>
              <a:t>聚焦搜索记录，不负责真实执行。KernelGen</a:t>
            </a:r>
            <a:r>
              <a:rPr dirty="0"/>
              <a:t> Harness </a:t>
            </a:r>
            <a:r>
              <a:rPr dirty="0" err="1"/>
              <a:t>完成</a:t>
            </a:r>
            <a:r>
              <a:rPr dirty="0"/>
              <a:t> Kernel </a:t>
            </a:r>
            <a:r>
              <a:rPr dirty="0" err="1"/>
              <a:t>执行、正确性检查和</a:t>
            </a:r>
            <a:r>
              <a:rPr dirty="0"/>
              <a:t> Benchmark </a:t>
            </a:r>
            <a:r>
              <a:rPr dirty="0" err="1"/>
              <a:t>后，将结果交给</a:t>
            </a:r>
            <a:r>
              <a:rPr dirty="0"/>
              <a:t> Evidence </a:t>
            </a:r>
            <a:r>
              <a:rPr dirty="0" err="1"/>
              <a:t>Memory，与</a:t>
            </a:r>
            <a:r>
              <a:rPr dirty="0"/>
              <a:t> Kernel </a:t>
            </a:r>
            <a:r>
              <a:rPr dirty="0" err="1"/>
              <a:t>版本、父节点、修改动作、Profiling</a:t>
            </a:r>
            <a:r>
              <a:rPr dirty="0"/>
              <a:t> </a:t>
            </a:r>
            <a:r>
              <a:rPr dirty="0" err="1"/>
              <a:t>证据和诊断结果关联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这些记录支持几个关键操作：回退到当前最佳版本，避免重复已经验证失败的动作，根据失败原因选择重试或淘汰，为</a:t>
            </a:r>
            <a:r>
              <a:rPr dirty="0"/>
              <a:t> Controller </a:t>
            </a:r>
            <a:r>
              <a:rPr dirty="0" err="1"/>
              <a:t>提供历史状态，以及把成熟结果回流到</a:t>
            </a:r>
            <a:r>
              <a:rPr dirty="0"/>
              <a:t> Action Library。</a:t>
            </a:r>
          </a:p>
          <a:p>
            <a:endParaRPr dirty="0"/>
          </a:p>
          <a:p>
            <a:r>
              <a:rPr dirty="0" err="1"/>
              <a:t>现有复现实验已经暴露出这类机制的必要性。例如，在</a:t>
            </a:r>
            <a:r>
              <a:rPr dirty="0"/>
              <a:t> Conv2D </a:t>
            </a:r>
            <a:r>
              <a:rPr dirty="0" err="1"/>
              <a:t>实验中观察到</a:t>
            </a:r>
            <a:r>
              <a:rPr dirty="0"/>
              <a:t> 27.7% </a:t>
            </a:r>
            <a:r>
              <a:rPr dirty="0" err="1"/>
              <a:t>的噪声底，说明短</a:t>
            </a:r>
            <a:r>
              <a:rPr dirty="0"/>
              <a:t> Kernel </a:t>
            </a:r>
            <a:r>
              <a:rPr dirty="0" err="1"/>
              <a:t>的小幅性能差异不能直接用于候选排序。一次“不值得继续优化”的结论经过约</a:t>
            </a:r>
            <a:r>
              <a:rPr dirty="0"/>
              <a:t> 30 </a:t>
            </a:r>
            <a:r>
              <a:rPr dirty="0" err="1"/>
              <a:t>轮才得到，说明停止规则不能完全依赖</a:t>
            </a:r>
            <a:r>
              <a:rPr dirty="0"/>
              <a:t> Agent </a:t>
            </a:r>
            <a:r>
              <a:rPr dirty="0" err="1"/>
              <a:t>临时判断。编译失败、环境失败、正确性失败和性能回退也需要分类处理，单次工具失败不能直接否定整个优化方向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目前我们积累了测量噪声、失败分类和停止规则方面的经验，但统一</a:t>
            </a:r>
            <a:r>
              <a:rPr dirty="0"/>
              <a:t> Evidence Memory </a:t>
            </a:r>
            <a:r>
              <a:rPr dirty="0" err="1"/>
              <a:t>数据结构还没有实现，下一步需要与</a:t>
            </a:r>
            <a:r>
              <a:rPr dirty="0"/>
              <a:t> </a:t>
            </a:r>
            <a:r>
              <a:rPr dirty="0" err="1"/>
              <a:t>KernelGen</a:t>
            </a:r>
            <a:r>
              <a:rPr dirty="0"/>
              <a:t> 的 Harness </a:t>
            </a:r>
            <a:r>
              <a:rPr dirty="0" err="1"/>
              <a:t>和候选管理对接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3F6D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8" y="1234440"/>
            <a:ext cx="99669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dirty="0">
                <a:solidFill>
                  <a:srgbClr val="14181C"/>
                </a:solidFill>
                <a:latin typeface="Aptos"/>
              </a:rPr>
              <a:t>Hardware-Grounded</a:t>
            </a:r>
            <a:br>
              <a:rPr lang="zh-CN" altLang="en-US" dirty="0"/>
            </a:br>
            <a:r>
              <a:rPr sz="3100" b="1" dirty="0">
                <a:solidFill>
                  <a:srgbClr val="14181C"/>
                </a:solidFill>
                <a:latin typeface="Aptos"/>
              </a:rPr>
              <a:t>Kernel Design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2633225"/>
            <a:ext cx="9601200" cy="3662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 err="1">
                <a:solidFill>
                  <a:srgbClr val="262B31"/>
                </a:solidFill>
                <a:latin typeface="Microsoft YaHei"/>
              </a:rPr>
              <a:t>体系结构知识</a:t>
            </a:r>
            <a:r>
              <a:rPr lang="zh-CN" altLang="en-US" sz="1900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en-US" altLang="zh-CN" sz="1900" dirty="0">
                <a:solidFill>
                  <a:srgbClr val="262B31"/>
                </a:solidFill>
                <a:latin typeface="Microsoft YaHei"/>
              </a:rPr>
              <a:t>+</a:t>
            </a:r>
            <a:r>
              <a:rPr sz="1900" b="0" dirty="0">
                <a:solidFill>
                  <a:srgbClr val="262B31"/>
                </a:solidFill>
                <a:latin typeface="Microsoft YaHei"/>
              </a:rPr>
              <a:t> Profiling </a:t>
            </a:r>
            <a:r>
              <a:rPr sz="1900" b="0" dirty="0" err="1">
                <a:solidFill>
                  <a:srgbClr val="262B31"/>
                </a:solidFill>
                <a:latin typeface="Microsoft YaHei"/>
              </a:rPr>
              <a:t>驱动</a:t>
            </a:r>
            <a:endParaRPr sz="1900" b="0" dirty="0">
              <a:solidFill>
                <a:srgbClr val="262B31"/>
              </a:solidFill>
              <a:latin typeface="Microsoft YaHei"/>
            </a:endParaRPr>
          </a:p>
        </p:txBody>
      </p:sp>
      <p:cxnSp>
        <p:nvCxnSpPr>
          <p:cNvPr id="55" name="Connector 54"/>
          <p:cNvCxnSpPr>
            <a:cxnSpLocks/>
          </p:cNvCxnSpPr>
          <p:nvPr/>
        </p:nvCxnSpPr>
        <p:spPr>
          <a:xfrm>
            <a:off x="786384" y="3264408"/>
            <a:ext cx="3553884" cy="0"/>
          </a:xfrm>
          <a:prstGeom prst="line">
            <a:avLst/>
          </a:prstGeom>
          <a:ln w="3810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6384" y="5321808"/>
            <a:ext cx="51206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6870"/>
                </a:solidFill>
                <a:latin typeface="Microsoft YaHei"/>
              </a:rPr>
              <a:t>中国科学院计算技术研究所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" y="5722894"/>
            <a:ext cx="5120640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06870"/>
                </a:solidFill>
                <a:latin typeface="Microsoft YaHei"/>
              </a:rPr>
              <a:t>2026.08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0A9BE664-47B2-D85E-EDA6-B402F1512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257" y="182916"/>
            <a:ext cx="1276935" cy="1276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KernelGen 提供了多芯片 Kernel 开发基础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920240"/>
            <a:ext cx="1874519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算子描述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1" y="2258568"/>
            <a:ext cx="21031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52928" y="1920240"/>
            <a:ext cx="1874519" cy="91440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Kernel 生成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82312" y="2258568"/>
            <a:ext cx="21031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7488" y="1920240"/>
            <a:ext cx="1874519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编译与验证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76871" y="2258568"/>
            <a:ext cx="21031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42047" y="1920240"/>
            <a:ext cx="1874519" cy="91440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多轮优化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71432" y="2258568"/>
            <a:ext cx="21031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36608" y="1920240"/>
            <a:ext cx="1874519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平台部署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401568"/>
            <a:ext cx="33649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62B31"/>
                </a:solidFill>
                <a:latin typeface="Microsoft YaHei"/>
              </a:rPr>
              <a:t>Kernel 生成、正确性验证与性能测量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1416" y="3401568"/>
            <a:ext cx="33649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62B31"/>
                </a:solidFill>
                <a:latin typeface="Microsoft YaHei"/>
              </a:rPr>
              <a:t>多轮修改、性能优化与失败修复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401568"/>
            <a:ext cx="33649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62B31"/>
                </a:solidFill>
                <a:latin typeface="Microsoft YaHei"/>
              </a:rPr>
              <a:t>NVIDIA / 昇腾 / 海光 / 沐曦 / 摩尔线程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跨平台 Kernel 生成仍面临性能差异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236089"/>
            <a:ext cx="438912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606870"/>
                </a:solidFill>
                <a:latin typeface="Aptos"/>
              </a:rPr>
              <a:t>Claude Code</a:t>
            </a:r>
            <a:r>
              <a:rPr lang="en-US" sz="1400" b="1" dirty="0">
                <a:solidFill>
                  <a:srgbClr val="606870"/>
                </a:solidFill>
                <a:latin typeface="Aptos"/>
              </a:rPr>
              <a:t> @ </a:t>
            </a:r>
            <a:r>
              <a:rPr lang="en-US" altLang="zh-CN" sz="1400" b="1" dirty="0">
                <a:solidFill>
                  <a:srgbClr val="606870"/>
                </a:solidFill>
                <a:latin typeface="Aptos"/>
              </a:rPr>
              <a:t>Opus 4.6</a:t>
            </a:r>
            <a:r>
              <a:rPr sz="1400" b="1" dirty="0">
                <a:solidFill>
                  <a:srgbClr val="606870"/>
                </a:solidFill>
                <a:latin typeface="Aptos"/>
              </a:rPr>
              <a:t> / Platform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47091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62B31"/>
                </a:solidFill>
                <a:latin typeface="Microsoft YaHei"/>
              </a:rPr>
              <a:t>正确率 </a:t>
            </a:r>
            <a:r>
              <a:rPr sz="2600" b="1">
                <a:solidFill>
                  <a:srgbClr val="133F6D"/>
                </a:solidFill>
                <a:latin typeface="Microsoft YaHei"/>
              </a:rPr>
              <a:t>89%</a:t>
            </a:r>
            <a:r>
              <a:rPr sz="1700" b="0">
                <a:solidFill>
                  <a:srgbClr val="262B31"/>
                </a:solidFill>
                <a:latin typeface="Microsoft YaHei"/>
              </a:rPr>
              <a:t>  /  几何平均加速比 </a:t>
            </a:r>
            <a:r>
              <a:rPr sz="2600" b="1">
                <a:solidFill>
                  <a:srgbClr val="14181C"/>
                </a:solidFill>
                <a:latin typeface="Microsoft YaHei"/>
              </a:rPr>
              <a:t>0.18×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52241"/>
            <a:ext cx="438912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606870"/>
                </a:solidFill>
                <a:latin typeface="Aptos"/>
              </a:rPr>
              <a:t>AutoKernel</a:t>
            </a:r>
            <a:r>
              <a:rPr lang="en-US" sz="1400" b="1" dirty="0">
                <a:solidFill>
                  <a:srgbClr val="606870"/>
                </a:solidFill>
                <a:latin typeface="Aptos"/>
              </a:rPr>
              <a:t> @ GLM-5.0</a:t>
            </a:r>
            <a:endParaRPr sz="1400" b="1" dirty="0">
              <a:solidFill>
                <a:srgbClr val="60687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888989"/>
            <a:ext cx="4709160" cy="4216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dirty="0">
                <a:solidFill>
                  <a:srgbClr val="262B31"/>
                </a:solidFill>
                <a:latin typeface="Microsoft YaHei"/>
              </a:rPr>
              <a:t>NVIDIA </a:t>
            </a:r>
            <a:r>
              <a:rPr sz="2500" b="1" dirty="0">
                <a:solidFill>
                  <a:srgbClr val="133F6D"/>
                </a:solidFill>
                <a:latin typeface="Microsoft YaHei"/>
              </a:rPr>
              <a:t>87%</a:t>
            </a:r>
            <a:r>
              <a:rPr sz="1700" b="0" dirty="0">
                <a:solidFill>
                  <a:srgbClr val="262B31"/>
                </a:solidFill>
                <a:latin typeface="Microsoft YaHei"/>
              </a:rPr>
              <a:t>  →  Platform E </a:t>
            </a:r>
            <a:r>
              <a:rPr lang="en-US" sz="1700" b="0" dirty="0">
                <a:solidFill>
                  <a:srgbClr val="262B31"/>
                </a:solidFill>
                <a:latin typeface="Microsoft YaHei"/>
              </a:rPr>
              <a:t> </a:t>
            </a:r>
            <a:r>
              <a:rPr sz="2500" b="1" dirty="0">
                <a:solidFill>
                  <a:srgbClr val="14181C"/>
                </a:solidFill>
                <a:latin typeface="Microsoft YaHe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098" y="3688130"/>
            <a:ext cx="5240782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262B31"/>
                </a:solidFill>
                <a:latin typeface="Microsoft YaHei"/>
              </a:rPr>
              <a:t>编译器、地址宽度、数据类型支持均会影响跨平台迁移结果</a:t>
            </a:r>
            <a:endParaRPr sz="1500" b="0" dirty="0">
              <a:solidFill>
                <a:srgbClr val="262B31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1508760"/>
            <a:ext cx="416052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62B31"/>
                </a:solidFill>
                <a:latin typeface="Microsoft YaHei"/>
              </a:rPr>
              <a:t>平台差异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47888" y="2276856"/>
            <a:ext cx="475488" cy="292608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2743200"/>
            <a:ext cx="416052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262B31"/>
                </a:solidFill>
                <a:latin typeface="Microsoft YaHei"/>
              </a:rPr>
              <a:t>相同经验未必适用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247888" y="3511296"/>
            <a:ext cx="475488" cy="292608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3977639"/>
            <a:ext cx="4160520" cy="65836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33F6D"/>
                </a:solidFill>
                <a:latin typeface="Microsoft YaHei"/>
              </a:rPr>
              <a:t>硬件知识与运行信息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6016752"/>
            <a:ext cx="106527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dirty="0" err="1">
                <a:solidFill>
                  <a:srgbClr val="14181C"/>
                </a:solidFill>
                <a:latin typeface="Microsoft YaHei"/>
              </a:rPr>
              <a:t>正确运行只是起点，高性能依赖目标芯片的真实执行行为</a:t>
            </a:r>
            <a:endParaRPr sz="1800" b="1" dirty="0">
              <a:solidFill>
                <a:srgbClr val="14181C"/>
              </a:solidFill>
              <a:latin typeface="Microsoft YaHei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F4C94F3-0712-1B44-6586-00F84900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099211"/>
            <a:ext cx="4880943" cy="149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HARDWARE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体系结构视角补充三类能力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225393"/>
            <a:ext cx="3063240" cy="107899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Microsoft YaHei"/>
              </a:rPr>
              <a:t>静态硬件知识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74616"/>
            <a:ext cx="2788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870"/>
                </a:solidFill>
                <a:latin typeface="Microsoft YaHei"/>
              </a:rPr>
              <a:t>芯片能力与约束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225393"/>
            <a:ext cx="3063240" cy="1078992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Microsoft YaHei"/>
              </a:rPr>
              <a:t>动态运行信息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74616"/>
            <a:ext cx="2788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870"/>
                </a:solidFill>
                <a:latin typeface="Microsoft YaHei"/>
              </a:rPr>
              <a:t>Kernel 实际行为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225393"/>
            <a:ext cx="3063240" cy="107899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Microsoft YaHei"/>
              </a:rPr>
              <a:t>优化经验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874616"/>
            <a:ext cx="2788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06870"/>
                </a:solidFill>
                <a:latin typeface="Microsoft YaHei"/>
              </a:rPr>
              <a:t>现象到修改动作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12848" y="3478121"/>
            <a:ext cx="0" cy="576072"/>
          </a:xfrm>
          <a:prstGeom prst="line">
            <a:avLst/>
          </a:prstGeom>
          <a:ln w="2540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79008" y="3478121"/>
            <a:ext cx="0" cy="576072"/>
          </a:xfrm>
          <a:prstGeom prst="line">
            <a:avLst/>
          </a:prstGeom>
          <a:ln w="2540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12848" y="4054193"/>
            <a:ext cx="3566160" cy="0"/>
          </a:xfrm>
          <a:prstGeom prst="line">
            <a:avLst/>
          </a:prstGeom>
          <a:ln w="2540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3858768" y="4127345"/>
            <a:ext cx="384048" cy="320040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4511393"/>
            <a:ext cx="3108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33F6D"/>
                </a:solidFill>
                <a:latin typeface="Microsoft YaHei"/>
              </a:rPr>
              <a:t>性能判断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72200" y="4694273"/>
            <a:ext cx="438912" cy="256032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80" y="4511393"/>
            <a:ext cx="3200400" cy="713232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4181C"/>
                </a:solidFill>
                <a:latin typeface="Microsoft YaHei"/>
              </a:rPr>
              <a:t>Kernel 修改方向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189720" y="3368393"/>
            <a:ext cx="310896" cy="1078992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Hardware-Grounded Kernel Design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115568"/>
            <a:ext cx="10652760" cy="1024128"/>
          </a:xfrm>
          <a:prstGeom prst="rect">
            <a:avLst/>
          </a:prstGeom>
          <a:solidFill>
            <a:srgbClr val="FFFFFF"/>
          </a:solidFill>
          <a:ln w="20320">
            <a:solidFill>
              <a:srgbClr val="14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188720"/>
            <a:ext cx="27889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Aptos"/>
              </a:rPr>
              <a:t>KernelGen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353312"/>
            <a:ext cx="1572768" cy="4389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Kernel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50992" y="1353312"/>
            <a:ext cx="1655064" cy="4389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dirty="0">
                <a:solidFill>
                  <a:srgbClr val="262B31"/>
                </a:solidFill>
                <a:latin typeface="Microsoft YaHei"/>
              </a:rPr>
              <a:t>Candidate</a:t>
            </a:r>
            <a:r>
              <a:rPr lang="en-US" sz="1000" b="0" dirty="0">
                <a:solidFill>
                  <a:srgbClr val="262B31"/>
                </a:solidFill>
                <a:latin typeface="Microsoft YaHei"/>
              </a:rPr>
              <a:t> </a:t>
            </a:r>
            <a:r>
              <a:rPr sz="1000" b="0" dirty="0">
                <a:solidFill>
                  <a:srgbClr val="262B31"/>
                </a:solidFill>
                <a:latin typeface="Microsoft YaHei"/>
              </a:rPr>
              <a:t>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98664" y="1353312"/>
            <a:ext cx="1572768" cy="4389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Execution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8592" y="1353312"/>
            <a:ext cx="1828800" cy="4389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Correctness &amp; Benchmark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10652760" cy="3813048"/>
          </a:xfrm>
          <a:prstGeom prst="rect">
            <a:avLst/>
          </a:prstGeom>
          <a:solidFill>
            <a:srgbClr val="FFFFFF"/>
          </a:solidFill>
          <a:ln w="20320">
            <a:solidFill>
              <a:srgbClr val="14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688336"/>
            <a:ext cx="384048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Aptos"/>
              </a:rPr>
              <a:t>Hardware Intelligence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607411"/>
            <a:ext cx="2240280" cy="5029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Static Hardware KB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607411"/>
            <a:ext cx="2148840" cy="50292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Dynamic Profiler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59152" y="4110331"/>
            <a:ext cx="0" cy="246888"/>
          </a:xfrm>
          <a:prstGeom prst="line">
            <a:avLst/>
          </a:prstGeom>
          <a:ln w="2032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47488" y="4110331"/>
            <a:ext cx="0" cy="246888"/>
          </a:xfrm>
          <a:prstGeom prst="line">
            <a:avLst/>
          </a:prstGeom>
          <a:ln w="2032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59152" y="4357219"/>
            <a:ext cx="2688336" cy="0"/>
          </a:xfrm>
          <a:prstGeom prst="line">
            <a:avLst/>
          </a:prstGeom>
          <a:ln w="2032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3529584" y="4341280"/>
            <a:ext cx="347472" cy="274320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43200" y="4631539"/>
            <a:ext cx="2423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Evidence Fusion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776472" y="5125315"/>
            <a:ext cx="347472" cy="237744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743200" y="5381347"/>
            <a:ext cx="2423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Bottleneck Diagnosis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21808" y="5491075"/>
            <a:ext cx="457200" cy="228600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600" y="5253331"/>
            <a:ext cx="265176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4181C"/>
                </a:solidFill>
                <a:latin typeface="Microsoft YaHei"/>
              </a:rPr>
              <a:t>Optimization Experience</a:t>
            </a:r>
            <a:br/>
            <a:r>
              <a:rPr sz="1100" b="1">
                <a:solidFill>
                  <a:srgbClr val="14181C"/>
                </a:solidFill>
                <a:latin typeface="Microsoft YaHei"/>
              </a:rPr>
              <a:t>/ Action Library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59952" y="5436211"/>
            <a:ext cx="420624" cy="24688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08592" y="5253331"/>
            <a:ext cx="1600200" cy="65836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 dirty="0">
                <a:solidFill>
                  <a:srgbClr val="133F6D"/>
                </a:solidFill>
                <a:latin typeface="Microsoft YaHei"/>
              </a:rPr>
              <a:t>Kernel Action Plan</a:t>
            </a:r>
            <a:endParaRPr sz="1200" b="1" dirty="0">
              <a:solidFill>
                <a:srgbClr val="133F6D"/>
              </a:solidFill>
              <a:latin typeface="Microsoft YaHe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23944" y="3086203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06870"/>
                </a:solidFill>
                <a:latin typeface="Microsoft YaHei"/>
              </a:rPr>
              <a:t>Top-K Counter Index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6191250" y="3790291"/>
            <a:ext cx="835818" cy="146304"/>
          </a:xfrm>
          <a:prstGeom prst="leftArrow">
            <a:avLst/>
          </a:prstGeom>
          <a:solidFill>
            <a:srgbClr val="606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32220" y="4718407"/>
            <a:ext cx="1874519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06870"/>
                </a:solidFill>
                <a:latin typeface="Microsoft YaHei"/>
              </a:rPr>
              <a:t>Evidence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225399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06870"/>
                </a:solidFill>
                <a:latin typeface="Aptos"/>
              </a:rPr>
              <a:t>Kernel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353312" y="2057400"/>
            <a:ext cx="384048" cy="630936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2281428"/>
            <a:ext cx="196596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06870"/>
                </a:solidFill>
                <a:latin typeface="Aptos"/>
              </a:rPr>
              <a:t>Kernel Action Plan</a:t>
            </a:r>
          </a:p>
        </p:txBody>
      </p:sp>
      <p:sp>
        <p:nvSpPr>
          <p:cNvPr id="42" name="Up Arrow 41"/>
          <p:cNvSpPr/>
          <p:nvPr/>
        </p:nvSpPr>
        <p:spPr>
          <a:xfrm>
            <a:off x="9857232" y="2057399"/>
            <a:ext cx="384048" cy="3008378"/>
          </a:xfrm>
          <a:prstGeom prst="up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51238196-9BC5-C18D-B022-E71D444AC57C}"/>
              </a:ext>
            </a:extLst>
          </p:cNvPr>
          <p:cNvSpPr/>
          <p:nvPr/>
        </p:nvSpPr>
        <p:spPr>
          <a:xfrm>
            <a:off x="7050025" y="3497580"/>
            <a:ext cx="1600200" cy="65836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3F6D"/>
                </a:solidFill>
                <a:latin typeface="Microsoft YaHei"/>
              </a:rPr>
              <a:t>Search</a:t>
            </a:r>
            <a:br/>
            <a:r>
              <a:rPr sz="1200" b="1">
                <a:solidFill>
                  <a:srgbClr val="133F6D"/>
                </a:solidFill>
                <a:latin typeface="Microsoft YaHei"/>
              </a:rPr>
              <a:t>Controller</a:t>
            </a:r>
          </a:p>
        </p:txBody>
      </p:sp>
      <p:sp>
        <p:nvSpPr>
          <p:cNvPr id="50" name="Left Arrow 31">
            <a:extLst>
              <a:ext uri="{FF2B5EF4-FFF2-40B4-BE49-F238E27FC236}">
                <a16:creationId xmlns:a16="http://schemas.microsoft.com/office/drawing/2014/main" id="{550392D4-1A12-EB2D-F972-4397E37659B5}"/>
              </a:ext>
            </a:extLst>
          </p:cNvPr>
          <p:cNvSpPr/>
          <p:nvPr/>
        </p:nvSpPr>
        <p:spPr>
          <a:xfrm rot="15346126">
            <a:off x="8188339" y="4708098"/>
            <a:ext cx="1132505" cy="157775"/>
          </a:xfrm>
          <a:prstGeom prst="leftArrow">
            <a:avLst/>
          </a:prstGeom>
          <a:solidFill>
            <a:srgbClr val="606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Static Hardware KB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3031657"/>
            <a:ext cx="493776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Microsoft YaHei"/>
              </a:rPr>
              <a:t>平台 / 架构 / 型号 / Kernel / Shape / dtype</a:t>
            </a:r>
          </a:p>
        </p:txBody>
      </p:sp>
      <p:sp>
        <p:nvSpPr>
          <p:cNvPr id="7" name="Down Arrow 6"/>
          <p:cNvSpPr/>
          <p:nvPr/>
        </p:nvSpPr>
        <p:spPr>
          <a:xfrm>
            <a:off x="2816352" y="3433993"/>
            <a:ext cx="438912" cy="292608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4128" y="3799753"/>
            <a:ext cx="4160520" cy="713232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33F6D"/>
                </a:solidFill>
                <a:latin typeface="Microsoft YaHei"/>
              </a:rPr>
              <a:t>硬件画像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181068"/>
            <a:ext cx="2267712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计算与存储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5181068"/>
            <a:ext cx="2267712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ISA / 矩阵扩展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747996"/>
            <a:ext cx="2267712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编译 / 运行时约束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5747996"/>
            <a:ext cx="2267712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Profiling 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" y="1632673"/>
            <a:ext cx="4480560" cy="56630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14181C"/>
                </a:solidFill>
                <a:latin typeface="Microsoft YaHei"/>
              </a:rPr>
              <a:t>Kernel Wiki</a:t>
            </a:r>
            <a:r>
              <a:rPr lang="zh-CN" altLang="en-US" sz="1600" b="1" dirty="0">
                <a:solidFill>
                  <a:srgbClr val="14181C"/>
                </a:solidFill>
                <a:latin typeface="Microsoft YaHei"/>
              </a:rPr>
              <a:t>现有内容以 </a:t>
            </a:r>
            <a:r>
              <a:rPr lang="en-US" altLang="zh-CN" sz="1600" b="1" dirty="0">
                <a:solidFill>
                  <a:srgbClr val="14181C"/>
                </a:solidFill>
                <a:latin typeface="Microsoft YaHei"/>
              </a:rPr>
              <a:t>B200 </a:t>
            </a:r>
            <a:r>
              <a:rPr lang="zh-CN" altLang="en-US" sz="1600" b="1" dirty="0">
                <a:solidFill>
                  <a:srgbClr val="14181C"/>
                </a:solidFill>
                <a:latin typeface="Microsoft YaHei"/>
              </a:rPr>
              <a:t>为主，</a:t>
            </a:r>
            <a:endParaRPr lang="en-US" altLang="zh-CN" sz="1600" b="1" dirty="0">
              <a:solidFill>
                <a:srgbClr val="14181C"/>
              </a:solidFill>
              <a:latin typeface="Microsoft YaHe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14181C"/>
                </a:solidFill>
                <a:latin typeface="Microsoft YaHei"/>
              </a:rPr>
              <a:t>需要扩充昇腾、海光等平台</a:t>
            </a:r>
            <a:endParaRPr sz="1600" b="1" dirty="0">
              <a:solidFill>
                <a:srgbClr val="14181C"/>
              </a:solidFill>
              <a:latin typeface="Microsoft YaHei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4A5A5B3-835A-E910-4C5B-49F71176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548183"/>
            <a:ext cx="5941126" cy="341711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35A12355-E021-CED2-39D4-F0DD5BBE0C92}"/>
              </a:ext>
            </a:extLst>
          </p:cNvPr>
          <p:cNvSpPr txBox="1"/>
          <p:nvPr/>
        </p:nvSpPr>
        <p:spPr>
          <a:xfrm>
            <a:off x="6094476" y="5413637"/>
            <a:ext cx="5941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e.g.</a:t>
            </a:r>
            <a:r>
              <a:rPr lang="zh-CN" altLang="en-US" dirty="0"/>
              <a:t>访存合并是通用概念，但不同平台上的指令、存储层次和编译约束不同，需要同时保留</a:t>
            </a:r>
            <a:r>
              <a:rPr lang="en-US" altLang="zh-CN" dirty="0"/>
              <a:t>public</a:t>
            </a:r>
            <a:r>
              <a:rPr lang="zh-CN" altLang="en-US" dirty="0"/>
              <a:t>知识和平台细节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400" b="1" dirty="0">
                <a:solidFill>
                  <a:srgbClr val="14181C"/>
                </a:solidFill>
                <a:latin typeface="Microsoft YaHei"/>
              </a:rPr>
              <a:t>Search Controller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：控制</a:t>
            </a:r>
            <a:r>
              <a:rPr lang="fr-FR" altLang="zh-CN" sz="2400" b="1" dirty="0">
                <a:solidFill>
                  <a:srgbClr val="14181C"/>
                </a:solidFill>
                <a:latin typeface="Microsoft YaHei"/>
              </a:rPr>
              <a:t>Dynamic Profiler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与</a:t>
            </a:r>
            <a:r>
              <a:rPr lang="fr-FR" altLang="zh-CN" sz="2400" b="1" dirty="0">
                <a:solidFill>
                  <a:srgbClr val="14181C"/>
                </a:solidFill>
                <a:latin typeface="Microsoft YaHei"/>
              </a:rPr>
              <a:t>Kernel Action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生成</a:t>
            </a:r>
            <a:endParaRPr lang="fr-FR" altLang="zh-CN"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76072" y="2322069"/>
            <a:ext cx="5349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2504949"/>
            <a:ext cx="1828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3F6D"/>
                </a:solidFill>
                <a:latin typeface="Aptos"/>
              </a:rPr>
              <a:t>Evidence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898141"/>
            <a:ext cx="466344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 err="1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sz="1500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M1～M6</a:t>
            </a:r>
            <a:r>
              <a:rPr lang="zh-CN" altLang="en-US" sz="1500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信息级别</a:t>
            </a:r>
            <a:br>
              <a:rPr sz="1500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500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总体按获取成本升序</a:t>
            </a:r>
            <a:endParaRPr sz="1500" dirty="0">
              <a:solidFill>
                <a:srgbClr val="262B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99048" y="2322069"/>
            <a:ext cx="53492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2504949"/>
            <a:ext cx="1828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81C"/>
                </a:solidFill>
                <a:latin typeface="Aptos"/>
              </a:rPr>
              <a:t>Search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898141"/>
            <a:ext cx="466344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262B31"/>
                </a:solidFill>
                <a:latin typeface="Microsoft YaHei"/>
              </a:rPr>
              <a:t>优化策略数量</a:t>
            </a:r>
            <a:br>
              <a:rPr dirty="0"/>
            </a:br>
            <a:r>
              <a:rPr sz="1500" b="0" dirty="0">
                <a:solidFill>
                  <a:srgbClr val="262B31"/>
                </a:solidFill>
                <a:latin typeface="Microsoft YaHei"/>
              </a:rPr>
              <a:t>Kernel </a:t>
            </a:r>
            <a:r>
              <a:rPr sz="1500" b="0" dirty="0" err="1">
                <a:solidFill>
                  <a:srgbClr val="262B31"/>
                </a:solidFill>
                <a:latin typeface="Microsoft YaHei"/>
              </a:rPr>
              <a:t>版本数量</a:t>
            </a:r>
            <a:endParaRPr sz="1500" b="0" dirty="0">
              <a:solidFill>
                <a:srgbClr val="262B31"/>
              </a:solidFill>
              <a:latin typeface="Microsoft YaHei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5C789D0-E01F-C934-90BE-745989B9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913" y="3986277"/>
            <a:ext cx="5111356" cy="2415659"/>
          </a:xfrm>
          <a:prstGeom prst="rect">
            <a:avLst/>
          </a:prstGeom>
        </p:spPr>
      </p:pic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7ECF4B79-D777-16E3-EAF4-12FDBBFD7663}"/>
              </a:ext>
            </a:extLst>
          </p:cNvPr>
          <p:cNvSpPr/>
          <p:nvPr/>
        </p:nvSpPr>
        <p:spPr>
          <a:xfrm>
            <a:off x="749808" y="1179577"/>
            <a:ext cx="3200400" cy="71323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Agile</a:t>
            </a:r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3957E565-2629-3B52-B8DC-26CF6637B20D}"/>
              </a:ext>
            </a:extLst>
          </p:cNvPr>
          <p:cNvSpPr txBox="1"/>
          <p:nvPr/>
        </p:nvSpPr>
        <p:spPr>
          <a:xfrm>
            <a:off x="841247" y="1655065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870"/>
                </a:solidFill>
                <a:latin typeface="Microsoft YaHei"/>
              </a:rPr>
              <a:t>少量证据 × 小分支</a:t>
            </a:r>
          </a:p>
        </p:txBody>
      </p:sp>
      <p:sp>
        <p:nvSpPr>
          <p:cNvPr id="40" name="Rounded Rectangle 13">
            <a:extLst>
              <a:ext uri="{FF2B5EF4-FFF2-40B4-BE49-F238E27FC236}">
                <a16:creationId xmlns:a16="http://schemas.microsoft.com/office/drawing/2014/main" id="{F33AF361-06F6-8B39-BCCD-BE2CDBFA57D2}"/>
              </a:ext>
            </a:extLst>
          </p:cNvPr>
          <p:cNvSpPr/>
          <p:nvPr/>
        </p:nvSpPr>
        <p:spPr>
          <a:xfrm>
            <a:off x="4279392" y="1179577"/>
            <a:ext cx="3200400" cy="71323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181C"/>
                </a:solidFill>
                <a:latin typeface="Microsoft YaHei"/>
              </a:rPr>
              <a:t>Peak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3CA30A7F-9647-D10B-7F0C-C9DBD6EAE1B8}"/>
              </a:ext>
            </a:extLst>
          </p:cNvPr>
          <p:cNvSpPr txBox="1"/>
          <p:nvPr/>
        </p:nvSpPr>
        <p:spPr>
          <a:xfrm>
            <a:off x="4370831" y="1655065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870"/>
                </a:solidFill>
                <a:latin typeface="Microsoft YaHei"/>
              </a:rPr>
              <a:t>完整证据 × 多分支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FBC549FB-C612-B82F-661A-CFC0DDD679E9}"/>
              </a:ext>
            </a:extLst>
          </p:cNvPr>
          <p:cNvSpPr/>
          <p:nvPr/>
        </p:nvSpPr>
        <p:spPr>
          <a:xfrm>
            <a:off x="7808975" y="1179577"/>
            <a:ext cx="3200400" cy="713232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33F6D"/>
                </a:solidFill>
                <a:latin typeface="Microsoft YaHei"/>
              </a:rPr>
              <a:t>Adaptive</a:t>
            </a:r>
          </a:p>
        </p:txBody>
      </p:sp>
      <p:sp>
        <p:nvSpPr>
          <p:cNvPr id="46" name="TextBox 16">
            <a:extLst>
              <a:ext uri="{FF2B5EF4-FFF2-40B4-BE49-F238E27FC236}">
                <a16:creationId xmlns:a16="http://schemas.microsoft.com/office/drawing/2014/main" id="{CC559D4D-BD8F-3EFC-F90D-FF7F7C56ACD5}"/>
              </a:ext>
            </a:extLst>
          </p:cNvPr>
          <p:cNvSpPr txBox="1"/>
          <p:nvPr/>
        </p:nvSpPr>
        <p:spPr>
          <a:xfrm>
            <a:off x="7900415" y="1655065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06870"/>
                </a:solidFill>
                <a:latin typeface="Microsoft YaHei"/>
              </a:rPr>
              <a:t>根据诊断动态扩展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4181C"/>
                </a:solidFill>
                <a:latin typeface="Microsoft YaHei"/>
              </a:rPr>
              <a:t>Dynamic Profiler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181836"/>
            <a:ext cx="11027664" cy="3823657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Nsight Compute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等工具采集的信息是海量的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KernelDesign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过程中需要知道当前算子应该关注哪些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而对于没有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Nsight Compute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的硬件，全量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Profiling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是耗时的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可编程计数器通常只有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4~8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因此使用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perf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采集几百个性能事件要上百轮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因此在真实的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KDA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流程前，必须要把每个算子对应哪些性能指标值得关注进行固化</a:t>
            </a: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也即离线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Top-K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6068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Dynamic Profiler</a:t>
            </a:r>
            <a:r>
              <a:rPr lang="zh-CN" altLang="en-US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运行时只用采集对应的</a:t>
            </a:r>
            <a:r>
              <a:rPr lang="en-US" altLang="zh-CN" sz="2000" dirty="0">
                <a:solidFill>
                  <a:srgbClr val="6068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Top-K</a:t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530CBFB1-5542-5CF3-B33F-68C8051462BF}"/>
              </a:ext>
            </a:extLst>
          </p:cNvPr>
          <p:cNvSpPr txBox="1"/>
          <p:nvPr/>
        </p:nvSpPr>
        <p:spPr>
          <a:xfrm>
            <a:off x="841248" y="5230368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Aptos"/>
              </a:rPr>
              <a:t>OFFLINE BUILD</a:t>
            </a:r>
          </a:p>
        </p:txBody>
      </p:sp>
      <p:sp>
        <p:nvSpPr>
          <p:cNvPr id="31" name="Rounded Rectangle 6">
            <a:extLst>
              <a:ext uri="{FF2B5EF4-FFF2-40B4-BE49-F238E27FC236}">
                <a16:creationId xmlns:a16="http://schemas.microsoft.com/office/drawing/2014/main" id="{3F07158E-6A09-EFC6-3059-8479C98ED7F6}"/>
              </a:ext>
            </a:extLst>
          </p:cNvPr>
          <p:cNvSpPr/>
          <p:nvPr/>
        </p:nvSpPr>
        <p:spPr>
          <a:xfrm>
            <a:off x="868680" y="5577840"/>
            <a:ext cx="1572768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dirty="0" err="1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</a:t>
            </a:r>
            <a:r>
              <a:rPr lang="zh-CN" altLang="en-US" sz="12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性能数据</a:t>
            </a:r>
            <a:endParaRPr sz="12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ight Arrow 7">
            <a:extLst>
              <a:ext uri="{FF2B5EF4-FFF2-40B4-BE49-F238E27FC236}">
                <a16:creationId xmlns:a16="http://schemas.microsoft.com/office/drawing/2014/main" id="{66D8F01C-8838-5F64-3760-ABD045F5FFDD}"/>
              </a:ext>
            </a:extLst>
          </p:cNvPr>
          <p:cNvSpPr/>
          <p:nvPr/>
        </p:nvSpPr>
        <p:spPr>
          <a:xfrm>
            <a:off x="2505456" y="5779008"/>
            <a:ext cx="219456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A2229FCA-E11D-7D0F-9840-994A9A47ED95}"/>
              </a:ext>
            </a:extLst>
          </p:cNvPr>
          <p:cNvSpPr/>
          <p:nvPr/>
        </p:nvSpPr>
        <p:spPr>
          <a:xfrm>
            <a:off x="2743200" y="5577840"/>
            <a:ext cx="1572768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zh-CN" altLang="en-US" sz="12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建模量化重要性</a:t>
            </a:r>
            <a:endParaRPr sz="12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ight Arrow 9">
            <a:extLst>
              <a:ext uri="{FF2B5EF4-FFF2-40B4-BE49-F238E27FC236}">
                <a16:creationId xmlns:a16="http://schemas.microsoft.com/office/drawing/2014/main" id="{DDC120C3-961E-E36F-FCDA-371767B3BC8C}"/>
              </a:ext>
            </a:extLst>
          </p:cNvPr>
          <p:cNvSpPr/>
          <p:nvPr/>
        </p:nvSpPr>
        <p:spPr>
          <a:xfrm>
            <a:off x="4379976" y="5779008"/>
            <a:ext cx="219456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9F720814-F602-43F8-1B2E-F5BCCB512553}"/>
              </a:ext>
            </a:extLst>
          </p:cNvPr>
          <p:cNvSpPr/>
          <p:nvPr/>
        </p:nvSpPr>
        <p:spPr>
          <a:xfrm>
            <a:off x="4617720" y="5577840"/>
            <a:ext cx="1572768" cy="64008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Top-K Index</a:t>
            </a: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C187A879-47BD-0AA4-BDB1-D9324D7F1465}"/>
              </a:ext>
            </a:extLst>
          </p:cNvPr>
          <p:cNvSpPr txBox="1"/>
          <p:nvPr/>
        </p:nvSpPr>
        <p:spPr>
          <a:xfrm>
            <a:off x="6583680" y="5230368"/>
            <a:ext cx="41148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Aptos"/>
              </a:rPr>
              <a:t>ONLINE QUERY</a:t>
            </a:r>
          </a:p>
        </p:txBody>
      </p:sp>
      <p:sp>
        <p:nvSpPr>
          <p:cNvPr id="43" name="Rounded Rectangle 12">
            <a:extLst>
              <a:ext uri="{FF2B5EF4-FFF2-40B4-BE49-F238E27FC236}">
                <a16:creationId xmlns:a16="http://schemas.microsoft.com/office/drawing/2014/main" id="{6CE6EC0C-B304-7D22-5D49-F9CF036ABD50}"/>
              </a:ext>
            </a:extLst>
          </p:cNvPr>
          <p:cNvSpPr/>
          <p:nvPr/>
        </p:nvSpPr>
        <p:spPr>
          <a:xfrm>
            <a:off x="6629400" y="5577840"/>
            <a:ext cx="155448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dirty="0" err="1">
                <a:solidFill>
                  <a:srgbClr val="14181C"/>
                </a:solidFill>
                <a:latin typeface="Microsoft YaHei"/>
              </a:rPr>
              <a:t>查询</a:t>
            </a:r>
            <a:r>
              <a:rPr sz="1200" b="1" dirty="0">
                <a:solidFill>
                  <a:srgbClr val="14181C"/>
                </a:solidFill>
                <a:latin typeface="Microsoft YaHei"/>
              </a:rPr>
              <a:t> Index</a:t>
            </a:r>
          </a:p>
        </p:txBody>
      </p:sp>
      <p:sp>
        <p:nvSpPr>
          <p:cNvPr id="45" name="Right Arrow 13">
            <a:extLst>
              <a:ext uri="{FF2B5EF4-FFF2-40B4-BE49-F238E27FC236}">
                <a16:creationId xmlns:a16="http://schemas.microsoft.com/office/drawing/2014/main" id="{34E412F1-A5F9-4F95-BA07-7EC9EDA6D7FD}"/>
              </a:ext>
            </a:extLst>
          </p:cNvPr>
          <p:cNvSpPr/>
          <p:nvPr/>
        </p:nvSpPr>
        <p:spPr>
          <a:xfrm>
            <a:off x="8275320" y="5779008"/>
            <a:ext cx="25603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01365EFB-28A5-968D-3A54-2C328C230CFA}"/>
              </a:ext>
            </a:extLst>
          </p:cNvPr>
          <p:cNvSpPr/>
          <p:nvPr/>
        </p:nvSpPr>
        <p:spPr>
          <a:xfrm>
            <a:off x="8641080" y="5577840"/>
            <a:ext cx="2148840" cy="64008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直接采集 Top-K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DYNAMIC PROFILER / WHITE-BOX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400" b="1" dirty="0">
                <a:solidFill>
                  <a:srgbClr val="14181C"/>
                </a:solidFill>
                <a:latin typeface="Microsoft YaHei"/>
              </a:rPr>
              <a:t>XSAI White-box Profiler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：一个构建</a:t>
            </a:r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RTL Counter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的</a:t>
            </a:r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Top-K Index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例子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155448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4181C"/>
                </a:solidFill>
                <a:latin typeface="Microsoft YaHei"/>
              </a:rPr>
              <a:t>Kernel </a:t>
            </a:r>
            <a:r>
              <a:rPr sz="1300" b="1" dirty="0" err="1">
                <a:solidFill>
                  <a:srgbClr val="14181C"/>
                </a:solidFill>
                <a:latin typeface="Microsoft YaHei"/>
              </a:rPr>
              <a:t>变体</a:t>
            </a:r>
            <a:endParaRPr sz="1300" b="1" dirty="0">
              <a:solidFill>
                <a:srgbClr val="14181C"/>
              </a:solidFill>
              <a:latin typeface="Microsoft YaHei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2267712" y="1627632"/>
            <a:ext cx="292608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33472" y="1417320"/>
            <a:ext cx="114300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Microsoft YaHei"/>
              </a:rPr>
              <a:t>编译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9624" y="1627632"/>
            <a:ext cx="292608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15383" y="1417320"/>
            <a:ext cx="1828800" cy="65836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Microsoft YaHei"/>
              </a:rPr>
              <a:t>XSAI RTL emu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17336" y="1627632"/>
            <a:ext cx="292608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3096" y="1417320"/>
            <a:ext cx="2898648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FF0000"/>
                </a:solidFill>
                <a:latin typeface="Microsoft YaHei"/>
              </a:rPr>
              <a:t>Counter / </a:t>
            </a:r>
            <a:r>
              <a:rPr sz="1300" b="1" dirty="0" err="1">
                <a:solidFill>
                  <a:srgbClr val="FF0000"/>
                </a:solidFill>
                <a:latin typeface="Microsoft YaHei"/>
              </a:rPr>
              <a:t>ChiselDB</a:t>
            </a:r>
            <a:r>
              <a:rPr sz="1300" b="1" dirty="0">
                <a:solidFill>
                  <a:srgbClr val="FF0000"/>
                </a:solidFill>
                <a:latin typeface="Microsoft YaHei"/>
              </a:rPr>
              <a:t> / DRAMSim3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1627632"/>
            <a:ext cx="292608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10928" y="1417320"/>
            <a:ext cx="2331720" cy="65836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Microsoft YaHei"/>
              </a:rPr>
              <a:t>指令与 uop 流水分析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523744"/>
            <a:ext cx="193852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0000"/>
                </a:solidFill>
                <a:latin typeface="Microsoft YaHei"/>
              </a:rPr>
              <a:t>RTL Counter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9232" y="2523744"/>
            <a:ext cx="193852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流水级时间戳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523744"/>
            <a:ext cx="193852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262B31"/>
                </a:solidFill>
                <a:latin typeface="Microsoft YaHei"/>
              </a:rPr>
              <a:t>Load Replay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2523744"/>
            <a:ext cx="193852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存储系统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65208" y="2523744"/>
            <a:ext cx="193852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FST 波形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Fetch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48255" y="3557016"/>
            <a:ext cx="237745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95144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Decode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93591" y="3557016"/>
            <a:ext cx="237744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840480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Rename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38928" y="3557016"/>
            <a:ext cx="237744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85816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Issue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84264" y="3557016"/>
            <a:ext cx="237744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31152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Execute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0" y="3557016"/>
            <a:ext cx="237744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76488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Writeback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74936" y="3557016"/>
            <a:ext cx="237744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21824" y="3319272"/>
            <a:ext cx="1298448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2B31"/>
                </a:solidFill>
                <a:latin typeface="Microsoft YaHei"/>
              </a:rPr>
              <a:t>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4069080"/>
            <a:ext cx="1298448" cy="310896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33F6D"/>
                </a:solidFill>
                <a:latin typeface="Microsoft YaHei"/>
              </a:rPr>
              <a:t>timestamp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1152" y="4069080"/>
            <a:ext cx="1298448" cy="310896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33F6D"/>
                </a:solidFill>
                <a:latin typeface="Microsoft YaHei"/>
              </a:rPr>
              <a:t>timestamp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6488" y="4069080"/>
            <a:ext cx="1298448" cy="310896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33F6D"/>
                </a:solidFill>
                <a:latin typeface="Microsoft YaHei"/>
              </a:rPr>
              <a:t>timestamp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92039"/>
            <a:ext cx="10652760" cy="8574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zh-CN" altLang="en-US" sz="17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目前重心在 </a:t>
            </a:r>
            <a:r>
              <a:rPr lang="fr-FR" altLang="zh-CN" sz="1700" b="1" dirty="0">
                <a:solidFill>
                  <a:srgbClr val="262B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RTL Counter</a:t>
            </a:r>
            <a:r>
              <a:rPr lang="zh-CN" altLang="en-US" b="1" dirty="0">
                <a:solidFill>
                  <a:srgbClr val="262B31"/>
                </a:solidFill>
                <a:latin typeface="Microsoft YaHei"/>
              </a:rPr>
              <a:t>：</a:t>
            </a:r>
            <a:endParaRPr lang="fr-FR" altLang="zh-CN" b="1" dirty="0">
              <a:solidFill>
                <a:srgbClr val="262B31"/>
              </a:solidFill>
              <a:latin typeface="Microsoft YaHei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dirty="0">
                <a:solidFill>
                  <a:srgbClr val="14181C"/>
                </a:solidFill>
                <a:latin typeface="Microsoft YaHei"/>
              </a:rPr>
              <a:t>已</a:t>
            </a:r>
            <a:r>
              <a:rPr lang="zh-CN" altLang="en-US" sz="17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走通</a:t>
            </a:r>
            <a:r>
              <a:rPr sz="1700" b="1" dirty="0">
                <a:solidFill>
                  <a:srgbClr val="14181C"/>
                </a:solidFill>
                <a:latin typeface="Microsoft YaHei"/>
              </a:rPr>
              <a:t>Kernel </a:t>
            </a:r>
            <a:r>
              <a:rPr sz="1700" b="1" dirty="0" err="1">
                <a:solidFill>
                  <a:srgbClr val="14181C"/>
                </a:solidFill>
                <a:latin typeface="Microsoft YaHei"/>
              </a:rPr>
              <a:t>变体、编译、emu</a:t>
            </a:r>
            <a:r>
              <a:rPr sz="1700" b="1" dirty="0">
                <a:solidFill>
                  <a:srgbClr val="14181C"/>
                </a:solidFill>
                <a:latin typeface="Microsoft YaHei"/>
              </a:rPr>
              <a:t> </a:t>
            </a:r>
            <a:r>
              <a:rPr sz="1700" b="1" dirty="0" err="1">
                <a:solidFill>
                  <a:srgbClr val="14181C"/>
                </a:solidFill>
                <a:latin typeface="Microsoft YaHei"/>
              </a:rPr>
              <a:t>运行与数据采集链路</a:t>
            </a:r>
            <a:endParaRPr sz="1700" b="1" dirty="0">
              <a:solidFill>
                <a:srgbClr val="14181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DYNAMIC PROFILER /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4181C"/>
                </a:solidFill>
                <a:latin typeface="Microsoft YaHei"/>
              </a:rPr>
              <a:t>Top-K Counter Index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：梯度树量化</a:t>
            </a:r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RTL Counter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重要性的例子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133856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Aptos"/>
              </a:rPr>
              <a:t>OFFLINE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572768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完整 Counter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22576" y="1682496"/>
            <a:ext cx="219456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60320" y="1481328"/>
            <a:ext cx="1572768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dirty="0" err="1">
                <a:solidFill>
                  <a:srgbClr val="14181C"/>
                </a:solidFill>
                <a:latin typeface="Microsoft YaHei"/>
              </a:rPr>
              <a:t>XGBoost</a:t>
            </a:r>
            <a:r>
              <a:rPr sz="1200" b="1" dirty="0">
                <a:solidFill>
                  <a:srgbClr val="14181C"/>
                </a:solidFill>
                <a:latin typeface="Microsoft YaHei"/>
              </a:rPr>
              <a:t> +</a:t>
            </a:r>
            <a:r>
              <a:rPr lang="zh-CN" altLang="en-US" sz="1200" b="1" dirty="0">
                <a:solidFill>
                  <a:srgbClr val="14181C"/>
                </a:solidFill>
                <a:latin typeface="Microsoft YaHei"/>
              </a:rPr>
              <a:t> </a:t>
            </a:r>
            <a:r>
              <a:rPr sz="1200" b="1" dirty="0" err="1">
                <a:solidFill>
                  <a:srgbClr val="14181C"/>
                </a:solidFill>
                <a:latin typeface="Microsoft YaHei"/>
              </a:rPr>
              <a:t>TreeSHAP</a:t>
            </a:r>
            <a:endParaRPr sz="1200" b="1" dirty="0">
              <a:solidFill>
                <a:srgbClr val="14181C"/>
              </a:solidFill>
              <a:latin typeface="Microsoft YaHe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197096" y="1682496"/>
            <a:ext cx="219456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1481328"/>
            <a:ext cx="1572768" cy="64008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Top-K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33856"/>
            <a:ext cx="411480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Aptos"/>
              </a:rPr>
              <a:t>ONLINE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81328"/>
            <a:ext cx="155448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查询 Index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92440" y="1682496"/>
            <a:ext cx="256032" cy="201168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1481328"/>
            <a:ext cx="2148840" cy="640080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直接采集 Top-K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F821A188-2399-BF3B-097D-6DB413DD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867" y="2740722"/>
            <a:ext cx="2880121" cy="380385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D43AB94-DCEB-3A20-DB8E-5FB4F41D9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63" y="4023726"/>
            <a:ext cx="4277737" cy="54600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596E64E-CE9C-1925-C921-8CE323246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955" y="2601037"/>
            <a:ext cx="2642786" cy="3637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9D0B-5D0F-DB8F-D70D-34C0F752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7FD892-B238-7F86-42E7-B091395A3248}"/>
              </a:ext>
            </a:extLst>
          </p:cNvPr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DYNAMIC PROFILER / INDEX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8B80B-6A6B-F16A-C3DF-766D930690DD}"/>
              </a:ext>
            </a:extLst>
          </p:cNvPr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4181C"/>
                </a:solidFill>
                <a:latin typeface="Microsoft YaHei"/>
              </a:rPr>
              <a:t>Top-K Counter Index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：训练集构造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05515C9-7946-8785-B8C1-50BF26DD5F70}"/>
              </a:ext>
            </a:extLst>
          </p:cNvPr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A81B0C-3BA8-426B-CED2-A10240BD0AA5}"/>
              </a:ext>
            </a:extLst>
          </p:cNvPr>
          <p:cNvSpPr/>
          <p:nvPr/>
        </p:nvSpPr>
        <p:spPr>
          <a:xfrm>
            <a:off x="1290693" y="3800896"/>
            <a:ext cx="9607566" cy="254203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固定同一个矩阵乘任务，通过简单优化策略生成不同版本：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源代码版本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正确性检查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固定工具链编译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emu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机器码去重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-&gt;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一个唯一机器码形成一个训练样本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6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这样可以在算子功能不变的前提下，制造不同机器码、</a:t>
            </a:r>
            <a:r>
              <a:rPr lang="en-US" altLang="zh-CN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IPC 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和微架构行为。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0CC6277-D294-15E5-8302-B00500F50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504" y="1237102"/>
            <a:ext cx="4477159" cy="23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7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4181C"/>
                </a:solidFill>
                <a:latin typeface="Microsoft YaHei"/>
              </a:rPr>
              <a:t>Evidence Fusion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3387089"/>
            <a:ext cx="32735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60" y="3412825"/>
            <a:ext cx="82296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33F6D"/>
                </a:solidFill>
                <a:latin typeface="Aptos"/>
              </a:rPr>
              <a:t>XSAI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1660" y="3571815"/>
            <a:ext cx="2121408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62B31"/>
                </a:solidFill>
                <a:latin typeface="Microsoft YaHei"/>
              </a:rPr>
              <a:t>Load replay</a:t>
            </a:r>
            <a:br>
              <a:rPr sz="2800" dirty="0"/>
            </a:br>
            <a:r>
              <a:rPr sz="1200" b="0" dirty="0">
                <a:solidFill>
                  <a:srgbClr val="262B31"/>
                </a:solidFill>
                <a:latin typeface="Microsoft YaHei"/>
              </a:rPr>
              <a:t>Issue-to-Commit</a:t>
            </a:r>
          </a:p>
        </p:txBody>
      </p:sp>
      <p:sp>
        <p:nvSpPr>
          <p:cNvPr id="9" name="Down Arrow 8"/>
          <p:cNvSpPr/>
          <p:nvPr/>
        </p:nvSpPr>
        <p:spPr>
          <a:xfrm rot="20173391">
            <a:off x="2103120" y="4292344"/>
            <a:ext cx="438912" cy="829789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3387089"/>
            <a:ext cx="32735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590288" y="3412825"/>
            <a:ext cx="82296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33F6D"/>
                </a:solidFill>
                <a:latin typeface="Aptos"/>
              </a:rPr>
              <a:t>NVIDIA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3588257"/>
            <a:ext cx="2121408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62B31"/>
                </a:solidFill>
                <a:latin typeface="Microsoft YaHei"/>
              </a:rPr>
              <a:t>Memory Dependency Stall</a:t>
            </a:r>
            <a:br>
              <a:rPr sz="2800" dirty="0"/>
            </a:br>
            <a:r>
              <a:rPr sz="1200" b="0" dirty="0">
                <a:solidFill>
                  <a:srgbClr val="262B31"/>
                </a:solidFill>
                <a:latin typeface="Microsoft YaHei"/>
              </a:rPr>
              <a:t>DRAM throughput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70448" y="4292344"/>
            <a:ext cx="438912" cy="883053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0456" y="3387089"/>
            <a:ext cx="32735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57616" y="3412825"/>
            <a:ext cx="82296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133F6D"/>
                </a:solidFill>
                <a:latin typeface="Microsoft YaHei"/>
              </a:rPr>
              <a:t>昇腾</a:t>
            </a:r>
            <a:endParaRPr b="1" dirty="0">
              <a:solidFill>
                <a:srgbClr val="133F6D"/>
              </a:solidFill>
              <a:latin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4548" y="3568261"/>
            <a:ext cx="2121408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262B31"/>
                </a:solidFill>
                <a:latin typeface="Microsoft YaHei"/>
              </a:rPr>
              <a:t>MTE wait</a:t>
            </a:r>
            <a:br>
              <a:rPr sz="2800" dirty="0"/>
            </a:br>
            <a:r>
              <a:rPr sz="1200" b="0" dirty="0" err="1">
                <a:solidFill>
                  <a:srgbClr val="262B31"/>
                </a:solidFill>
                <a:latin typeface="Microsoft YaHei"/>
              </a:rPr>
              <a:t>数据搬运效率</a:t>
            </a:r>
            <a:endParaRPr sz="1200" b="0" dirty="0">
              <a:solidFill>
                <a:srgbClr val="262B31"/>
              </a:solidFill>
              <a:latin typeface="Microsoft YaHei"/>
            </a:endParaRPr>
          </a:p>
        </p:txBody>
      </p:sp>
      <p:sp>
        <p:nvSpPr>
          <p:cNvPr id="17" name="Down Arrow 16"/>
          <p:cNvSpPr/>
          <p:nvPr/>
        </p:nvSpPr>
        <p:spPr>
          <a:xfrm rot="2668784">
            <a:off x="9637776" y="4292344"/>
            <a:ext cx="438912" cy="786383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32404" y="5328738"/>
            <a:ext cx="5715000" cy="65836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33F6D"/>
                </a:solidFill>
                <a:latin typeface="Microsoft YaHei"/>
              </a:rPr>
              <a:t>数据供给相关证据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M1 规模与理论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M2 架构资源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3984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M3 总体性能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M4 内存系统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2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M5 调度执行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4976" y="6388679"/>
            <a:ext cx="1664208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62B31"/>
                </a:solidFill>
                <a:latin typeface="Microsoft YaHei"/>
              </a:rPr>
              <a:t>M6 源码指令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0F97BC2-CBE1-9536-F01F-D64CF0680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695" y="1232625"/>
            <a:ext cx="3469952" cy="17446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Microsoft YaHei"/>
              </a:rPr>
              <a:t>Bottleneck Diagnosis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234440"/>
            <a:ext cx="3977639" cy="62179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dirty="0" err="1">
                <a:solidFill>
                  <a:srgbClr val="14181C"/>
                </a:solidFill>
                <a:latin typeface="Microsoft YaHei"/>
              </a:rPr>
              <a:t>公共证据</a:t>
            </a:r>
            <a:endParaRPr sz="1600" b="1" dirty="0">
              <a:solidFill>
                <a:srgbClr val="14181C"/>
              </a:solidFill>
              <a:latin typeface="Microsoft YaHei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2551176" y="1920240"/>
            <a:ext cx="438912" cy="228600"/>
          </a:xfrm>
          <a:prstGeom prst="down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194560"/>
            <a:ext cx="3977639" cy="621792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dirty="0" err="1">
                <a:solidFill>
                  <a:srgbClr val="14181C"/>
                </a:solidFill>
                <a:latin typeface="Microsoft YaHei"/>
              </a:rPr>
              <a:t>瓶颈</a:t>
            </a:r>
            <a:r>
              <a:rPr lang="zh-CN" altLang="en-US" sz="16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</a:t>
            </a:r>
            <a:endParaRPr sz="16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D0D75F5B-D58C-D030-7BC6-481ECD3D54AF}"/>
              </a:ext>
            </a:extLst>
          </p:cNvPr>
          <p:cNvSpPr/>
          <p:nvPr/>
        </p:nvSpPr>
        <p:spPr>
          <a:xfrm>
            <a:off x="6814518" y="1333441"/>
            <a:ext cx="4663440" cy="17222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6B5D0F2B-2664-F511-5CB3-74B698800619}"/>
              </a:ext>
            </a:extLst>
          </p:cNvPr>
          <p:cNvSpPr txBox="1"/>
          <p:nvPr/>
        </p:nvSpPr>
        <p:spPr>
          <a:xfrm>
            <a:off x="7043118" y="1596817"/>
            <a:ext cx="4206240" cy="145886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包括但不限于</a:t>
            </a:r>
            <a:r>
              <a:rPr sz="1800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Roofline </a:t>
            </a:r>
            <a:r>
              <a:rPr lang="zh-CN" altLang="en-US" sz="1800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诊断</a:t>
            </a:r>
            <a:endParaRPr lang="en-US" sz="1800" b="1" dirty="0">
              <a:solidFill>
                <a:srgbClr val="133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交给下一层后，综合</a:t>
            </a:r>
            <a:r>
              <a:rPr lang="fr-FR" altLang="zh-CN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Optimization Experience / Action Library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得到最终</a:t>
            </a:r>
            <a:r>
              <a:rPr lang="fr-FR" altLang="zh-CN" b="1" dirty="0">
                <a:solidFill>
                  <a:srgbClr val="133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 Action Plan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800" b="1" dirty="0">
              <a:solidFill>
                <a:srgbClr val="133F6D"/>
              </a:solidFill>
              <a:latin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6DFE273-7B29-F98C-0CBF-067836BBC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46" y="3237068"/>
            <a:ext cx="3120191" cy="31888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D846E26-B85F-BA7A-9FD6-94157E907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948" y="3111412"/>
            <a:ext cx="2591316" cy="335911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97EA887-F43E-1EB4-348E-364D81EED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200" y="3237068"/>
            <a:ext cx="3197965" cy="310003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1AE4C69-A0B5-8360-4CAE-F9CBCF2CC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165" y="3629492"/>
            <a:ext cx="3041184" cy="23335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Kernel Action Plan</a:t>
            </a:r>
            <a:r>
              <a:rPr lang="zh-CN" altLang="en-US" sz="2400" b="1" dirty="0">
                <a:solidFill>
                  <a:srgbClr val="14181C"/>
                </a:solidFill>
                <a:latin typeface="Microsoft YaHei"/>
              </a:rPr>
              <a:t>：基于</a:t>
            </a:r>
            <a:r>
              <a:rPr sz="2400" b="1" dirty="0">
                <a:solidFill>
                  <a:srgbClr val="14181C"/>
                </a:solidFill>
                <a:latin typeface="Microsoft YaHei"/>
              </a:rPr>
              <a:t>Optimization Experience / Action Library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4652" y="1801368"/>
            <a:ext cx="1828800" cy="56692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Microsoft YaHei"/>
              </a:rPr>
              <a:t>性能问题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7459" y="1984248"/>
            <a:ext cx="237744" cy="182880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12363" y="1801368"/>
            <a:ext cx="1828800" cy="56692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Microsoft YaHei"/>
              </a:rPr>
              <a:t>适用条件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5172" y="1984248"/>
            <a:ext cx="237744" cy="182880"/>
          </a:xfrm>
          <a:prstGeom prst="rightArrow">
            <a:avLst/>
          </a:prstGeom>
          <a:solidFill>
            <a:srgbClr val="13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0076" y="1801368"/>
            <a:ext cx="1828800" cy="566928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dirty="0">
                <a:solidFill>
                  <a:srgbClr val="14181C"/>
                </a:solidFill>
                <a:latin typeface="Microsoft YaHei"/>
              </a:rPr>
              <a:t>Kernel </a:t>
            </a:r>
            <a:r>
              <a:rPr sz="1300" b="1" dirty="0" err="1">
                <a:solidFill>
                  <a:srgbClr val="14181C"/>
                </a:solidFill>
                <a:latin typeface="Microsoft YaHei"/>
              </a:rPr>
              <a:t>修改</a:t>
            </a:r>
            <a:r>
              <a:rPr lang="zh-CN" altLang="en-US" sz="13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endParaRPr sz="13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651FC05-DD21-D60A-7C12-AB42F740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878" y="1166368"/>
            <a:ext cx="2955962" cy="512445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908BC0E-FBA1-AAE4-EE59-71482FA73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30" y="3138169"/>
            <a:ext cx="6776445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C939-00CD-9060-D03E-9CF23D7C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7DDEB-57D9-F0A5-3711-27A339C7C88C}"/>
              </a:ext>
            </a:extLst>
          </p:cNvPr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04494-801F-A733-9CA7-7F91F41A5B28}"/>
              </a:ext>
            </a:extLst>
          </p:cNvPr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Kernel Action Plan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D6439B2-B81E-0FCA-43E7-2559626AC5B3}"/>
              </a:ext>
            </a:extLst>
          </p:cNvPr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圆角矩形 29">
            <a:extLst>
              <a:ext uri="{FF2B5EF4-FFF2-40B4-BE49-F238E27FC236}">
                <a16:creationId xmlns:a16="http://schemas.microsoft.com/office/drawing/2014/main" id="{28DF300D-7122-1826-7302-85D7039B874B}"/>
              </a:ext>
            </a:extLst>
          </p:cNvPr>
          <p:cNvSpPr>
            <a:spLocks noGrp="1"/>
          </p:cNvSpPr>
          <p:nvPr/>
        </p:nvSpPr>
        <p:spPr>
          <a:xfrm>
            <a:off x="466725" y="1314451"/>
            <a:ext cx="7239000" cy="4438650"/>
          </a:xfrm>
          <a:prstGeom prst="roundRect">
            <a:avLst>
              <a:gd name="adj" fmla="val 3219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61BE54C-5C73-3EA3-E53E-93E45B7A4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85" y="1476377"/>
            <a:ext cx="6278923" cy="3924327"/>
          </a:xfrm>
          <a:prstGeom prst="rect">
            <a:avLst/>
          </a:prstGeom>
        </p:spPr>
      </p:pic>
      <p:sp>
        <p:nvSpPr>
          <p:cNvPr id="15" name="圆角矩形 31">
            <a:extLst>
              <a:ext uri="{FF2B5EF4-FFF2-40B4-BE49-F238E27FC236}">
                <a16:creationId xmlns:a16="http://schemas.microsoft.com/office/drawing/2014/main" id="{9473AF8D-7297-7781-6E67-B555C45933EE}"/>
              </a:ext>
            </a:extLst>
          </p:cNvPr>
          <p:cNvSpPr>
            <a:spLocks noGrp="1"/>
          </p:cNvSpPr>
          <p:nvPr/>
        </p:nvSpPr>
        <p:spPr>
          <a:xfrm>
            <a:off x="8020050" y="1304925"/>
            <a:ext cx="3524250" cy="20002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D5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04D3237-38BC-D4B9-26B1-95872E6B0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1400175"/>
            <a:ext cx="2895600" cy="1809750"/>
          </a:xfrm>
          <a:prstGeom prst="rect">
            <a:avLst/>
          </a:prstGeom>
        </p:spPr>
      </p:pic>
      <p:sp>
        <p:nvSpPr>
          <p:cNvPr id="19" name="圆角矩形 33">
            <a:extLst>
              <a:ext uri="{FF2B5EF4-FFF2-40B4-BE49-F238E27FC236}">
                <a16:creationId xmlns:a16="http://schemas.microsoft.com/office/drawing/2014/main" id="{BDE497D3-B147-5D6C-E53A-9FDA35DC1203}"/>
              </a:ext>
            </a:extLst>
          </p:cNvPr>
          <p:cNvSpPr>
            <a:spLocks noGrp="1"/>
          </p:cNvSpPr>
          <p:nvPr/>
        </p:nvSpPr>
        <p:spPr>
          <a:xfrm>
            <a:off x="8020050" y="3505200"/>
            <a:ext cx="3524250" cy="971550"/>
          </a:xfrm>
          <a:prstGeom prst="roundRect">
            <a:avLst>
              <a:gd name="adj" fmla="val 13725"/>
            </a:avLst>
          </a:prstGeom>
          <a:solidFill>
            <a:srgbClr val="E8F2F8"/>
          </a:solidFill>
          <a:ln w="9525">
            <a:solidFill>
              <a:srgbClr val="DDD5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圆角矩形 34">
            <a:extLst>
              <a:ext uri="{FF2B5EF4-FFF2-40B4-BE49-F238E27FC236}">
                <a16:creationId xmlns:a16="http://schemas.microsoft.com/office/drawing/2014/main" id="{046F9541-C4FD-0C16-D283-F112AD4A57C8}"/>
              </a:ext>
            </a:extLst>
          </p:cNvPr>
          <p:cNvSpPr>
            <a:spLocks noGrp="1"/>
          </p:cNvSpPr>
          <p:nvPr/>
        </p:nvSpPr>
        <p:spPr>
          <a:xfrm>
            <a:off x="8020050" y="3505200"/>
            <a:ext cx="76200" cy="971550"/>
          </a:xfrm>
          <a:prstGeom prst="roundRect">
            <a:avLst>
              <a:gd name="adj" fmla="val 50000"/>
            </a:avLst>
          </a:prstGeom>
          <a:solidFill>
            <a:srgbClr val="2876B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35AE17-8C84-BD7F-D41D-A230120E0917}"/>
              </a:ext>
            </a:extLst>
          </p:cNvPr>
          <p:cNvSpPr>
            <a:spLocks noGrp="1"/>
          </p:cNvSpPr>
          <p:nvPr/>
        </p:nvSpPr>
        <p:spPr>
          <a:xfrm>
            <a:off x="8248650" y="3667125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287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 dirty="0" err="1">
                <a:solidFill>
                  <a:srgbClr val="287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</a:t>
            </a:r>
            <a:r>
              <a:rPr lang="zh-CN" altLang="en-US" sz="1575" b="1" dirty="0">
                <a:solidFill>
                  <a:srgbClr val="287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性能知识与信息</a:t>
            </a:r>
            <a:endParaRPr sz="1575" b="1" dirty="0">
              <a:solidFill>
                <a:srgbClr val="287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93482EC-DBE9-E6B4-63F2-862091C94BC4}"/>
              </a:ext>
            </a:extLst>
          </p:cNvPr>
          <p:cNvSpPr>
            <a:spLocks noGrp="1"/>
          </p:cNvSpPr>
          <p:nvPr/>
        </p:nvSpPr>
        <p:spPr>
          <a:xfrm>
            <a:off x="8248650" y="4067175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85522"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源码症状 → L2 Profiler → L3 IR → L4 编译器约束</a:t>
            </a:r>
          </a:p>
        </p:txBody>
      </p:sp>
      <p:sp>
        <p:nvSpPr>
          <p:cNvPr id="29" name="圆角矩形 37">
            <a:extLst>
              <a:ext uri="{FF2B5EF4-FFF2-40B4-BE49-F238E27FC236}">
                <a16:creationId xmlns:a16="http://schemas.microsoft.com/office/drawing/2014/main" id="{3F16D74D-68E0-DD46-37EA-04B6B3A9C078}"/>
              </a:ext>
            </a:extLst>
          </p:cNvPr>
          <p:cNvSpPr>
            <a:spLocks noGrp="1"/>
          </p:cNvSpPr>
          <p:nvPr/>
        </p:nvSpPr>
        <p:spPr>
          <a:xfrm>
            <a:off x="8020050" y="4638675"/>
            <a:ext cx="3524250" cy="1104900"/>
          </a:xfrm>
          <a:prstGeom prst="roundRect">
            <a:avLst>
              <a:gd name="adj" fmla="val 12069"/>
            </a:avLst>
          </a:prstGeom>
          <a:solidFill>
            <a:srgbClr val="E7F3ED"/>
          </a:solidFill>
          <a:ln w="9525">
            <a:solidFill>
              <a:srgbClr val="DDD5C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圆角矩形 38">
            <a:extLst>
              <a:ext uri="{FF2B5EF4-FFF2-40B4-BE49-F238E27FC236}">
                <a16:creationId xmlns:a16="http://schemas.microsoft.com/office/drawing/2014/main" id="{5F3530AC-E892-8B65-3BF6-C43B5D339503}"/>
              </a:ext>
            </a:extLst>
          </p:cNvPr>
          <p:cNvSpPr>
            <a:spLocks noGrp="1"/>
          </p:cNvSpPr>
          <p:nvPr/>
        </p:nvSpPr>
        <p:spPr>
          <a:xfrm>
            <a:off x="8020050" y="46386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2C8B68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F3D881-79C9-3386-E607-EF10D88E4683}"/>
              </a:ext>
            </a:extLst>
          </p:cNvPr>
          <p:cNvSpPr>
            <a:spLocks noGrp="1"/>
          </p:cNvSpPr>
          <p:nvPr/>
        </p:nvSpPr>
        <p:spPr>
          <a:xfrm>
            <a:off x="8248650" y="480060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2C8B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C8B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建议排序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84EDDD-8C10-7429-2FA3-A119499165D4}"/>
              </a:ext>
            </a:extLst>
          </p:cNvPr>
          <p:cNvSpPr>
            <a:spLocks noGrp="1"/>
          </p:cNvSpPr>
          <p:nvPr/>
        </p:nvSpPr>
        <p:spPr>
          <a:xfrm>
            <a:off x="8248650" y="52006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dirty="0" err="1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每条优化方向展示分数、证据</a:t>
            </a:r>
            <a:r>
              <a:rPr lang="zh-CN" altLang="en-US" sz="1200" b="0" dirty="0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0" dirty="0" err="1">
                <a:solidFill>
                  <a:srgbClr val="2824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风险与验证方法</a:t>
            </a:r>
            <a:endParaRPr sz="1200" b="0" dirty="0">
              <a:solidFill>
                <a:srgbClr val="2824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9212883-2D85-216F-BAF0-7D72DA47F12B}"/>
              </a:ext>
            </a:extLst>
          </p:cNvPr>
          <p:cNvSpPr>
            <a:spLocks noGrp="1"/>
          </p:cNvSpPr>
          <p:nvPr/>
        </p:nvSpPr>
        <p:spPr>
          <a:xfrm>
            <a:off x="752475" y="6070527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dirty="0" err="1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模块化</a:t>
            </a:r>
            <a:r>
              <a:rPr sz="1350" b="1" dirty="0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profiling </a:t>
            </a:r>
            <a:r>
              <a:rPr sz="1350" b="1" dirty="0" err="1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</a:t>
            </a:r>
            <a:r>
              <a:rPr sz="1350" b="1" dirty="0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350" b="1" dirty="0" err="1">
                <a:solidFill>
                  <a:srgbClr val="163B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按预算选择搜索路线</a:t>
            </a:r>
            <a:endParaRPr sz="1350" b="1" dirty="0">
              <a:solidFill>
                <a:srgbClr val="163B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9007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9E3C-459D-AAFB-0C2F-4B3C9E32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81254-3899-5077-D0B7-568D5063A351}"/>
              </a:ext>
            </a:extLst>
          </p:cNvPr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3DED4-656D-4CCA-ADBD-DC2221817771}"/>
              </a:ext>
            </a:extLst>
          </p:cNvPr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Kernel Action Plan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2EBAE8E-E9DB-8CE1-86E7-664C345E1944}"/>
              </a:ext>
            </a:extLst>
          </p:cNvPr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8A7C238-C98D-1987-6A29-8BF8D536C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7" y="1348710"/>
            <a:ext cx="4170941" cy="52105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C51847-9B71-8B55-52E7-B10802CE6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772" y="1292516"/>
            <a:ext cx="5264931" cy="51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8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ACC0-197B-7251-29B4-EDB4B0E6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ABA47-5F47-E6E8-2220-CA6A3F84B40F}"/>
              </a:ext>
            </a:extLst>
          </p:cNvPr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9533A-4974-A3BD-955A-6EB373C78355}"/>
              </a:ext>
            </a:extLst>
          </p:cNvPr>
          <p:cNvSpPr txBox="1"/>
          <p:nvPr/>
        </p:nvSpPr>
        <p:spPr>
          <a:xfrm>
            <a:off x="502920" y="438912"/>
            <a:ext cx="107899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altLang="zh-CN" sz="2400" b="1" dirty="0">
                <a:solidFill>
                  <a:srgbClr val="14181C"/>
                </a:solidFill>
                <a:latin typeface="Microsoft YaHei"/>
              </a:rPr>
              <a:t>Kernel Action Plan</a:t>
            </a:r>
            <a:endParaRPr sz="2400" b="1" dirty="0">
              <a:solidFill>
                <a:srgbClr val="14181C"/>
              </a:solidFill>
              <a:latin typeface="Microsoft YaHei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6F4EC0F-699F-48C1-881D-F14002D10391}"/>
              </a:ext>
            </a:extLst>
          </p:cNvPr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2D096FF-B6B8-1B31-0594-8EBF7AE19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44" y="1434231"/>
            <a:ext cx="2707545" cy="48898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03966EA-96BE-3DAE-82F8-24B0FCBAE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93" y="1419907"/>
            <a:ext cx="2897329" cy="48036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A3F1B40-8F6F-9065-E1D3-1FD3C7FDE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289" y="1440299"/>
            <a:ext cx="3170237" cy="488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1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33F6D"/>
                </a:solidFill>
                <a:latin typeface="Aptos"/>
              </a:rPr>
              <a:t>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4181C"/>
                </a:solidFill>
                <a:latin typeface="Microsoft YaHei"/>
              </a:rPr>
              <a:t>Evidence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0120"/>
            <a:ext cx="11183112" cy="0"/>
          </a:xfrm>
          <a:prstGeom prst="line">
            <a:avLst/>
          </a:prstGeom>
          <a:ln w="12700">
            <a:solidFill>
              <a:srgbClr val="E8E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389888"/>
            <a:ext cx="1975104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回退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389888"/>
            <a:ext cx="1975104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避免重复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1389888"/>
            <a:ext cx="1975104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失败分类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5" y="1389888"/>
            <a:ext cx="1975104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停止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73768" y="1389888"/>
            <a:ext cx="1975104" cy="329184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262B31"/>
                </a:solidFill>
                <a:latin typeface="Microsoft YaHei"/>
              </a:rPr>
              <a:t>经验更新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323" y="2383140"/>
            <a:ext cx="11430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Microsoft YaHei"/>
              </a:rPr>
              <a:t>v0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27323" y="2593452"/>
            <a:ext cx="576072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67403" y="2383140"/>
            <a:ext cx="1143000" cy="420624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Microsoft YaHei"/>
              </a:rPr>
              <a:t>v1 保留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27323" y="2593452"/>
            <a:ext cx="576072" cy="676656"/>
          </a:xfrm>
          <a:prstGeom prst="line">
            <a:avLst/>
          </a:prstGeom>
          <a:ln w="15240">
            <a:solidFill>
              <a:srgbClr val="B9BF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67403" y="3059796"/>
            <a:ext cx="11430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06870"/>
                </a:solidFill>
                <a:latin typeface="Microsoft YaHei"/>
              </a:rPr>
              <a:t>v2 失败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10402" y="2593452"/>
            <a:ext cx="594361" cy="0"/>
          </a:xfrm>
          <a:prstGeom prst="line">
            <a:avLst/>
          </a:prstGeom>
          <a:ln w="17780">
            <a:solidFill>
              <a:srgbClr val="133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68771" y="2383140"/>
            <a:ext cx="1143000" cy="420624"/>
          </a:xfrm>
          <a:prstGeom prst="roundRect">
            <a:avLst/>
          </a:prstGeom>
          <a:solidFill>
            <a:srgbClr val="E7EFF7"/>
          </a:solidFill>
          <a:ln w="12700">
            <a:solidFill>
              <a:srgbClr val="133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33F6D"/>
                </a:solidFill>
                <a:latin typeface="Microsoft YaHei"/>
              </a:rPr>
              <a:t>v3 最佳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913631"/>
            <a:ext cx="10561320" cy="21488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9B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现有复现实验已经暴露出这类机制的必要性</a:t>
            </a:r>
            <a:endParaRPr lang="en-US" altLang="zh-CN" sz="1400" b="1" dirty="0">
              <a:solidFill>
                <a:srgbClr val="262B31"/>
              </a:solidFill>
              <a:latin typeface="Microsoft YaHei"/>
            </a:endParaRP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例如，在 </a:t>
            </a:r>
            <a:r>
              <a:rPr lang="en-US" altLang="zh-CN" sz="1400" b="1" dirty="0">
                <a:solidFill>
                  <a:srgbClr val="262B31"/>
                </a:solidFill>
                <a:latin typeface="Microsoft YaHei"/>
              </a:rPr>
              <a:t>Conv2D </a:t>
            </a: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实验中观察到 </a:t>
            </a:r>
            <a:r>
              <a:rPr lang="en-US" altLang="zh-CN" sz="1400" b="1" dirty="0">
                <a:solidFill>
                  <a:srgbClr val="262B31"/>
                </a:solidFill>
                <a:latin typeface="Microsoft YaHei"/>
              </a:rPr>
              <a:t>27.7% </a:t>
            </a: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的噪声底，说明短 </a:t>
            </a:r>
            <a:r>
              <a:rPr lang="en-US" altLang="zh-CN" sz="1400" b="1" dirty="0">
                <a:solidFill>
                  <a:srgbClr val="262B31"/>
                </a:solidFill>
                <a:latin typeface="Microsoft YaHei"/>
              </a:rPr>
              <a:t>Kernel </a:t>
            </a: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的小幅性能差异不能直接用于候选排序</a:t>
            </a:r>
            <a:endParaRPr lang="en-US" altLang="zh-CN" sz="1400" b="1" dirty="0">
              <a:solidFill>
                <a:srgbClr val="262B31"/>
              </a:solidFill>
              <a:latin typeface="Microsoft YaHei"/>
            </a:endParaRP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一次“不值得继续优化”的结论经过约 </a:t>
            </a:r>
            <a:r>
              <a:rPr lang="en-US" altLang="zh-CN" sz="1400" b="1" dirty="0">
                <a:solidFill>
                  <a:srgbClr val="262B31"/>
                </a:solidFill>
                <a:latin typeface="Microsoft YaHei"/>
              </a:rPr>
              <a:t>30 </a:t>
            </a: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轮才得到，说明停止规则不能完全依赖 </a:t>
            </a:r>
            <a:r>
              <a:rPr lang="en-US" altLang="zh-CN" sz="1400" b="1" dirty="0">
                <a:solidFill>
                  <a:srgbClr val="262B31"/>
                </a:solidFill>
                <a:latin typeface="Microsoft YaHei"/>
              </a:rPr>
              <a:t>Agent </a:t>
            </a: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临时判断</a:t>
            </a:r>
            <a:endParaRPr lang="en-US" altLang="zh-CN" sz="1400" b="1" dirty="0">
              <a:solidFill>
                <a:srgbClr val="262B31"/>
              </a:solidFill>
              <a:latin typeface="Microsoft YaHei"/>
            </a:endParaRP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编译失败、环境失败、正确性失败和性能回退也需要分类处理，单次工具失败不能直接否定整个优化方向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400" b="1" dirty="0">
              <a:solidFill>
                <a:srgbClr val="262B31"/>
              </a:solidFill>
              <a:latin typeface="Microsoft YaHei"/>
            </a:endParaRP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262B31"/>
                </a:solidFill>
                <a:latin typeface="Microsoft YaHei"/>
              </a:rPr>
              <a:t>目前我们积累了测量噪声、失败分类和停止规则方面的经验</a:t>
            </a:r>
            <a:endParaRPr sz="1400" b="1" dirty="0">
              <a:solidFill>
                <a:srgbClr val="262B31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83ED96-8597-B8A9-9B2C-CB636190401D}"/>
              </a:ext>
            </a:extLst>
          </p:cNvPr>
          <p:cNvSpPr txBox="1"/>
          <p:nvPr/>
        </p:nvSpPr>
        <p:spPr>
          <a:xfrm>
            <a:off x="754080" y="4233442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1418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请批评指正！</a:t>
            </a:r>
            <a:endParaRPr sz="2400" b="1" dirty="0">
              <a:solidFill>
                <a:srgbClr val="14181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A9E26E-BA7E-1A83-4BF6-565C1ADE1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25" y="1244298"/>
            <a:ext cx="4481749" cy="21847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B86CFA-B78B-E240-7BC1-642033C9C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257" y="182916"/>
            <a:ext cx="1276935" cy="12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6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3057</Words>
  <Application>Microsoft Office PowerPoint</Application>
  <PresentationFormat>宽屏</PresentationFormat>
  <Paragraphs>350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Microsoft YaHei</vt:lpstr>
      <vt:lpstr>Microsoft YaHei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Hardware-Grounded Kernel Design Agent</dc:title>
  <dc:subject>面向多芯片的体系结构知识与 Profiling 驱动算子优化</dc:subject>
  <dc:creator>中国科学院计算技术研究所</dc:creator>
  <cp:keywords/>
  <dc:description>generated using python-pptx</dc:description>
  <cp:lastModifiedBy>hanle zhang</cp:lastModifiedBy>
  <cp:revision>183</cp:revision>
  <dcterms:created xsi:type="dcterms:W3CDTF">2013-01-27T09:14:16Z</dcterms:created>
  <dcterms:modified xsi:type="dcterms:W3CDTF">2026-08-14T06:44:40Z</dcterms:modified>
  <cp:category/>
</cp:coreProperties>
</file>